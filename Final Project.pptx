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Poppins"/>
      <p:regular r:id="rId25"/>
      <p:bold r:id="rId26"/>
      <p:italic r:id="rId27"/>
      <p:boldItalic r:id="rId28"/>
    </p:embeddedFont>
    <p:embeddedFont>
      <p:font typeface="Poppins Light"/>
      <p:regular r:id="rId29"/>
      <p:bold r:id="rId30"/>
      <p:italic r:id="rId31"/>
      <p:boldItalic r:id="rId32"/>
    </p:embeddedFont>
    <p:embeddedFont>
      <p:font typeface="Poppins Medium"/>
      <p:regular r:id="rId33"/>
      <p:bold r:id="rId34"/>
      <p:italic r:id="rId35"/>
      <p:boldItalic r:id="rId36"/>
    </p:embeddedFont>
    <p:embeddedFont>
      <p:font typeface="Poppins SemiBold"/>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1" roundtripDataSignature="AMtx7mhhIplWlxnzZCcs0JiKz7O6TX5v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SemiBold-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Light-italic.fntdata"/><Relationship Id="rId30" Type="http://schemas.openxmlformats.org/officeDocument/2006/relationships/font" Target="fonts/PoppinsLight-bold.fntdata"/><Relationship Id="rId11" Type="http://schemas.openxmlformats.org/officeDocument/2006/relationships/slide" Target="slides/slide6.xml"/><Relationship Id="rId33" Type="http://schemas.openxmlformats.org/officeDocument/2006/relationships/font" Target="fonts/PoppinsMedium-regular.fntdata"/><Relationship Id="rId10" Type="http://schemas.openxmlformats.org/officeDocument/2006/relationships/slide" Target="slides/slide5.xml"/><Relationship Id="rId32" Type="http://schemas.openxmlformats.org/officeDocument/2006/relationships/font" Target="fonts/PoppinsLight-boldItalic.fntdata"/><Relationship Id="rId13" Type="http://schemas.openxmlformats.org/officeDocument/2006/relationships/slide" Target="slides/slide8.xml"/><Relationship Id="rId35" Type="http://schemas.openxmlformats.org/officeDocument/2006/relationships/font" Target="fonts/PoppinsMedium-italic.fntdata"/><Relationship Id="rId12" Type="http://schemas.openxmlformats.org/officeDocument/2006/relationships/slide" Target="slides/slide7.xml"/><Relationship Id="rId34" Type="http://schemas.openxmlformats.org/officeDocument/2006/relationships/font" Target="fonts/PoppinsMedium-bold.fntdata"/><Relationship Id="rId15" Type="http://schemas.openxmlformats.org/officeDocument/2006/relationships/slide" Target="slides/slide10.xml"/><Relationship Id="rId37" Type="http://schemas.openxmlformats.org/officeDocument/2006/relationships/font" Target="fonts/PoppinsSemiBold-regular.fntdata"/><Relationship Id="rId14" Type="http://schemas.openxmlformats.org/officeDocument/2006/relationships/slide" Target="slides/slide9.xml"/><Relationship Id="rId36" Type="http://schemas.openxmlformats.org/officeDocument/2006/relationships/font" Target="fonts/PoppinsMedium-boldItalic.fntdata"/><Relationship Id="rId17" Type="http://schemas.openxmlformats.org/officeDocument/2006/relationships/slide" Target="slides/slide12.xml"/><Relationship Id="rId39" Type="http://schemas.openxmlformats.org/officeDocument/2006/relationships/font" Target="fonts/PoppinsSemiBold-italic.fntdata"/><Relationship Id="rId16" Type="http://schemas.openxmlformats.org/officeDocument/2006/relationships/slide" Target="slides/slide11.xml"/><Relationship Id="rId38" Type="http://schemas.openxmlformats.org/officeDocument/2006/relationships/font" Target="fonts/PoppinsSemiBold-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 name="Google Shape;4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5fbf00b19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5fbf00b19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3690066d1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3690066d1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613ae639d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613ae639d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613ae639d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613ae639d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13ae639d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613ae639d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613ae639d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613ae639d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6030500d6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6030500d6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16128bc7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616128bc7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613ae639d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613ae639d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16128bc7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616128bc7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030500d6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6030500d6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616128bc7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616128bc7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61997e048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61997e048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616128bc7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616128bc7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6030500d6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6030500d6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7"/>
          <p:cNvSpPr txBox="1"/>
          <p:nvPr>
            <p:ph type="ctrTitle"/>
          </p:nvPr>
        </p:nvSpPr>
        <p:spPr>
          <a:xfrm>
            <a:off x="215700" y="859800"/>
            <a:ext cx="4020300" cy="24042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000"/>
              <a:buNone/>
              <a:defRPr sz="4000">
                <a:solidFill>
                  <a:schemeClr val="lt1"/>
                </a:solidFill>
              </a:defRPr>
            </a:lvl1pPr>
            <a:lvl2pPr lvl="1" algn="ctr">
              <a:lnSpc>
                <a:spcPct val="100000"/>
              </a:lnSpc>
              <a:spcBef>
                <a:spcPts val="0"/>
              </a:spcBef>
              <a:spcAft>
                <a:spcPts val="0"/>
              </a:spcAft>
              <a:buSzPts val="4100"/>
              <a:buNone/>
              <a:defRPr sz="4100"/>
            </a:lvl2pPr>
            <a:lvl3pPr lvl="2" algn="ctr">
              <a:lnSpc>
                <a:spcPct val="100000"/>
              </a:lnSpc>
              <a:spcBef>
                <a:spcPts val="0"/>
              </a:spcBef>
              <a:spcAft>
                <a:spcPts val="0"/>
              </a:spcAft>
              <a:buSzPts val="4100"/>
              <a:buNone/>
              <a:defRPr sz="4100"/>
            </a:lvl3pPr>
            <a:lvl4pPr lvl="3" algn="ctr">
              <a:lnSpc>
                <a:spcPct val="100000"/>
              </a:lnSpc>
              <a:spcBef>
                <a:spcPts val="0"/>
              </a:spcBef>
              <a:spcAft>
                <a:spcPts val="0"/>
              </a:spcAft>
              <a:buSzPts val="4100"/>
              <a:buNone/>
              <a:defRPr sz="4100"/>
            </a:lvl4pPr>
            <a:lvl5pPr lvl="4" algn="ctr">
              <a:lnSpc>
                <a:spcPct val="100000"/>
              </a:lnSpc>
              <a:spcBef>
                <a:spcPts val="0"/>
              </a:spcBef>
              <a:spcAft>
                <a:spcPts val="0"/>
              </a:spcAft>
              <a:buSzPts val="4100"/>
              <a:buNone/>
              <a:defRPr sz="4100"/>
            </a:lvl5pPr>
            <a:lvl6pPr lvl="5" algn="ctr">
              <a:lnSpc>
                <a:spcPct val="100000"/>
              </a:lnSpc>
              <a:spcBef>
                <a:spcPts val="0"/>
              </a:spcBef>
              <a:spcAft>
                <a:spcPts val="0"/>
              </a:spcAft>
              <a:buSzPts val="4100"/>
              <a:buNone/>
              <a:defRPr sz="4100"/>
            </a:lvl6pPr>
            <a:lvl7pPr lvl="6" algn="ctr">
              <a:lnSpc>
                <a:spcPct val="100000"/>
              </a:lnSpc>
              <a:spcBef>
                <a:spcPts val="0"/>
              </a:spcBef>
              <a:spcAft>
                <a:spcPts val="0"/>
              </a:spcAft>
              <a:buSzPts val="4100"/>
              <a:buNone/>
              <a:defRPr sz="4100"/>
            </a:lvl7pPr>
            <a:lvl8pPr lvl="7" algn="ctr">
              <a:lnSpc>
                <a:spcPct val="100000"/>
              </a:lnSpc>
              <a:spcBef>
                <a:spcPts val="0"/>
              </a:spcBef>
              <a:spcAft>
                <a:spcPts val="0"/>
              </a:spcAft>
              <a:buSzPts val="4100"/>
              <a:buNone/>
              <a:defRPr sz="4100"/>
            </a:lvl8pPr>
            <a:lvl9pPr lvl="8" algn="ctr">
              <a:lnSpc>
                <a:spcPct val="100000"/>
              </a:lnSpc>
              <a:spcBef>
                <a:spcPts val="0"/>
              </a:spcBef>
              <a:spcAft>
                <a:spcPts val="0"/>
              </a:spcAft>
              <a:buSzPts val="4100"/>
              <a:buNone/>
              <a:defRPr sz="4100"/>
            </a:lvl9pPr>
          </a:lstStyle>
          <a:p/>
        </p:txBody>
      </p:sp>
      <p:sp>
        <p:nvSpPr>
          <p:cNvPr id="11" name="Google Shape;11;p7"/>
          <p:cNvSpPr txBox="1"/>
          <p:nvPr>
            <p:ph idx="1" type="subTitle"/>
          </p:nvPr>
        </p:nvSpPr>
        <p:spPr>
          <a:xfrm>
            <a:off x="215700" y="4107600"/>
            <a:ext cx="4248300" cy="590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1900"/>
              <a:buNone/>
              <a:defRPr sz="1900"/>
            </a:lvl1pPr>
            <a:lvl2pPr lvl="1" algn="l">
              <a:lnSpc>
                <a:spcPct val="100000"/>
              </a:lnSpc>
              <a:spcBef>
                <a:spcPts val="0"/>
              </a:spcBef>
              <a:spcAft>
                <a:spcPts val="0"/>
              </a:spcAft>
              <a:buSzPts val="1900"/>
              <a:buNone/>
              <a:defRPr sz="1900"/>
            </a:lvl2pPr>
            <a:lvl3pPr lvl="2" algn="l">
              <a:lnSpc>
                <a:spcPct val="100000"/>
              </a:lnSpc>
              <a:spcBef>
                <a:spcPts val="0"/>
              </a:spcBef>
              <a:spcAft>
                <a:spcPts val="0"/>
              </a:spcAft>
              <a:buSzPts val="1900"/>
              <a:buNone/>
              <a:defRPr sz="1900"/>
            </a:lvl3pPr>
            <a:lvl4pPr lvl="3" algn="l">
              <a:lnSpc>
                <a:spcPct val="100000"/>
              </a:lnSpc>
              <a:spcBef>
                <a:spcPts val="0"/>
              </a:spcBef>
              <a:spcAft>
                <a:spcPts val="0"/>
              </a:spcAft>
              <a:buSzPts val="1900"/>
              <a:buNone/>
              <a:defRPr sz="1900"/>
            </a:lvl4pPr>
            <a:lvl5pPr lvl="4" algn="l">
              <a:lnSpc>
                <a:spcPct val="100000"/>
              </a:lnSpc>
              <a:spcBef>
                <a:spcPts val="0"/>
              </a:spcBef>
              <a:spcAft>
                <a:spcPts val="0"/>
              </a:spcAft>
              <a:buSzPts val="1900"/>
              <a:buNone/>
              <a:defRPr sz="1900"/>
            </a:lvl5pPr>
            <a:lvl6pPr lvl="5" algn="l">
              <a:lnSpc>
                <a:spcPct val="100000"/>
              </a:lnSpc>
              <a:spcBef>
                <a:spcPts val="0"/>
              </a:spcBef>
              <a:spcAft>
                <a:spcPts val="0"/>
              </a:spcAft>
              <a:buSzPts val="1900"/>
              <a:buNone/>
              <a:defRPr sz="1900"/>
            </a:lvl6pPr>
            <a:lvl7pPr lvl="6" algn="l">
              <a:lnSpc>
                <a:spcPct val="100000"/>
              </a:lnSpc>
              <a:spcBef>
                <a:spcPts val="0"/>
              </a:spcBef>
              <a:spcAft>
                <a:spcPts val="0"/>
              </a:spcAft>
              <a:buSzPts val="1900"/>
              <a:buNone/>
              <a:defRPr sz="1900"/>
            </a:lvl7pPr>
            <a:lvl8pPr lvl="7" algn="l">
              <a:lnSpc>
                <a:spcPct val="100000"/>
              </a:lnSpc>
              <a:spcBef>
                <a:spcPts val="0"/>
              </a:spcBef>
              <a:spcAft>
                <a:spcPts val="0"/>
              </a:spcAft>
              <a:buSzPts val="1900"/>
              <a:buNone/>
              <a:defRPr sz="1900"/>
            </a:lvl8pPr>
            <a:lvl9pPr lvl="8" algn="l">
              <a:lnSpc>
                <a:spcPct val="100000"/>
              </a:lnSpc>
              <a:spcBef>
                <a:spcPts val="0"/>
              </a:spcBef>
              <a:spcAft>
                <a:spcPts val="0"/>
              </a:spcAft>
              <a:buSzPts val="1900"/>
              <a:buNone/>
              <a:defRPr sz="1900"/>
            </a:lvl9pPr>
          </a:lstStyle>
          <a:p/>
        </p:txBody>
      </p:sp>
      <p:sp>
        <p:nvSpPr>
          <p:cNvPr id="12" name="Google Shape;12;p7"/>
          <p:cNvSpPr txBox="1"/>
          <p:nvPr>
            <p:ph idx="12" type="sldNum"/>
          </p:nvPr>
        </p:nvSpPr>
        <p:spPr>
          <a:xfrm>
            <a:off x="8472458" y="47394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8"/>
          <p:cNvSpPr txBox="1"/>
          <p:nvPr>
            <p:ph type="title"/>
          </p:nvPr>
        </p:nvSpPr>
        <p:spPr>
          <a:xfrm>
            <a:off x="1080000" y="1958850"/>
            <a:ext cx="69840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200"/>
              <a:buNone/>
              <a:defRPr sz="3200">
                <a:solidFill>
                  <a:schemeClr val="lt1"/>
                </a:solidFill>
              </a:defRPr>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15" name="Google Shape;15;p8"/>
          <p:cNvSpPr txBox="1"/>
          <p:nvPr>
            <p:ph idx="12" type="sldNum"/>
          </p:nvPr>
        </p:nvSpPr>
        <p:spPr>
          <a:xfrm>
            <a:off x="8472458" y="48156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9"/>
          <p:cNvSpPr txBox="1"/>
          <p:nvPr>
            <p:ph type="title"/>
          </p:nvPr>
        </p:nvSpPr>
        <p:spPr>
          <a:xfrm>
            <a:off x="311700" y="672450"/>
            <a:ext cx="54843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9"/>
          <p:cNvSpPr txBox="1"/>
          <p:nvPr>
            <p:ph idx="1" type="body"/>
          </p:nvPr>
        </p:nvSpPr>
        <p:spPr>
          <a:xfrm>
            <a:off x="311700" y="1355375"/>
            <a:ext cx="8520600" cy="3046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Poppins"/>
              <a:buChar char="●"/>
              <a:defRPr>
                <a:latin typeface="Poppins"/>
                <a:ea typeface="Poppins"/>
                <a:cs typeface="Poppins"/>
                <a:sym typeface="Poppins"/>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9"/>
          <p:cNvSpPr txBox="1"/>
          <p:nvPr>
            <p:ph idx="12" type="sldNum"/>
          </p:nvPr>
        </p:nvSpPr>
        <p:spPr>
          <a:xfrm>
            <a:off x="8472458" y="47394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10"/>
          <p:cNvSpPr txBox="1"/>
          <p:nvPr>
            <p:ph type="title"/>
          </p:nvPr>
        </p:nvSpPr>
        <p:spPr>
          <a:xfrm>
            <a:off x="265500" y="1425175"/>
            <a:ext cx="2638500" cy="1482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300"/>
              <a:buNone/>
              <a:defRPr sz="3300">
                <a:solidFill>
                  <a:schemeClr val="lt1"/>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2" name="Google Shape;22;p10"/>
          <p:cNvSpPr txBox="1"/>
          <p:nvPr>
            <p:ph idx="1" type="subTitle"/>
          </p:nvPr>
        </p:nvSpPr>
        <p:spPr>
          <a:xfrm>
            <a:off x="265500" y="3144000"/>
            <a:ext cx="2386500" cy="768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1pPr>
            <a:lvl2pPr lvl="1"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2pPr>
            <a:lvl3pPr lvl="2"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3pPr>
            <a:lvl4pPr lvl="3"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4pPr>
            <a:lvl5pPr lvl="4"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5pPr>
            <a:lvl6pPr lvl="5"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6pPr>
            <a:lvl7pPr lvl="6"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7pPr>
            <a:lvl8pPr lvl="7"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8pPr>
            <a:lvl9pPr lvl="8"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9pPr>
          </a:lstStyle>
          <a:p/>
        </p:txBody>
      </p:sp>
      <p:sp>
        <p:nvSpPr>
          <p:cNvPr id="23" name="Google Shape;23;p10"/>
          <p:cNvSpPr txBox="1"/>
          <p:nvPr>
            <p:ph idx="2" type="body"/>
          </p:nvPr>
        </p:nvSpPr>
        <p:spPr>
          <a:xfrm>
            <a:off x="3972000" y="724075"/>
            <a:ext cx="48045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4" name="Google Shape;24;p10"/>
          <p:cNvSpPr txBox="1"/>
          <p:nvPr>
            <p:ph idx="12" type="sldNum"/>
          </p:nvPr>
        </p:nvSpPr>
        <p:spPr>
          <a:xfrm>
            <a:off x="8472458" y="47394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blip>
          <a:stretch>
            <a:fillRect/>
          </a:stretch>
        </a:blipFill>
      </p:bgPr>
    </p:bg>
    <p:spTree>
      <p:nvGrpSpPr>
        <p:cNvPr id="25" name="Shape 2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12"/>
          <p:cNvSpPr txBox="1"/>
          <p:nvPr>
            <p:ph type="title"/>
          </p:nvPr>
        </p:nvSpPr>
        <p:spPr>
          <a:xfrm>
            <a:off x="311700" y="579775"/>
            <a:ext cx="54843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1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1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12"/>
          <p:cNvSpPr txBox="1"/>
          <p:nvPr>
            <p:ph idx="12" type="sldNum"/>
          </p:nvPr>
        </p:nvSpPr>
        <p:spPr>
          <a:xfrm>
            <a:off x="8472458" y="47394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13"/>
          <p:cNvSpPr txBox="1"/>
          <p:nvPr>
            <p:ph type="title"/>
          </p:nvPr>
        </p:nvSpPr>
        <p:spPr>
          <a:xfrm>
            <a:off x="1829850" y="2065025"/>
            <a:ext cx="54843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33" name="Google Shape;33;p13"/>
          <p:cNvSpPr txBox="1"/>
          <p:nvPr>
            <p:ph idx="12" type="sldNum"/>
          </p:nvPr>
        </p:nvSpPr>
        <p:spPr>
          <a:xfrm>
            <a:off x="8472458" y="47394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1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14"/>
          <p:cNvSpPr txBox="1"/>
          <p:nvPr>
            <p:ph idx="12" type="sldNum"/>
          </p:nvPr>
        </p:nvSpPr>
        <p:spPr>
          <a:xfrm>
            <a:off x="8472458" y="47394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37" name="Shape 37"/>
        <p:cNvGrpSpPr/>
        <p:nvPr/>
      </p:nvGrpSpPr>
      <p:grpSpPr>
        <a:xfrm>
          <a:off x="0" y="0"/>
          <a:ext cx="0" cy="0"/>
          <a:chOff x="0" y="0"/>
          <a:chExt cx="0" cy="0"/>
        </a:xfrm>
      </p:grpSpPr>
      <p:sp>
        <p:nvSpPr>
          <p:cNvPr id="38" name="Google Shape;38;p1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39" name="Google Shape;39;p15"/>
          <p:cNvSpPr txBox="1"/>
          <p:nvPr>
            <p:ph idx="12" type="sldNum"/>
          </p:nvPr>
        </p:nvSpPr>
        <p:spPr>
          <a:xfrm>
            <a:off x="8472458" y="47394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0D606D"/>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6"/>
          <p:cNvSpPr txBox="1"/>
          <p:nvPr>
            <p:ph type="title"/>
          </p:nvPr>
        </p:nvSpPr>
        <p:spPr>
          <a:xfrm>
            <a:off x="311700" y="579775"/>
            <a:ext cx="54843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52AA5E"/>
              </a:buClr>
              <a:buSzPts val="2800"/>
              <a:buFont typeface="Poppins"/>
              <a:buNone/>
              <a:defRPr b="1" i="0" sz="2800" u="none" cap="none" strike="noStrike">
                <a:solidFill>
                  <a:srgbClr val="52AA5E"/>
                </a:solidFill>
                <a:latin typeface="Poppins"/>
                <a:ea typeface="Poppins"/>
                <a:cs typeface="Poppins"/>
                <a:sym typeface="Poppins"/>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6"/>
          <p:cNvSpPr txBox="1"/>
          <p:nvPr>
            <p:ph idx="1" type="body"/>
          </p:nvPr>
        </p:nvSpPr>
        <p:spPr>
          <a:xfrm>
            <a:off x="311700" y="1355375"/>
            <a:ext cx="8520600" cy="30468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accent2"/>
              </a:buClr>
              <a:buSzPts val="1800"/>
              <a:buFont typeface="Poppins SemiBold"/>
              <a:buChar char="●"/>
              <a:defRPr b="0" i="0" sz="1800" u="none" cap="none" strike="noStrike">
                <a:solidFill>
                  <a:schemeClr val="accent2"/>
                </a:solidFill>
                <a:latin typeface="Poppins SemiBold"/>
                <a:ea typeface="Poppins SemiBold"/>
                <a:cs typeface="Poppins SemiBold"/>
                <a:sym typeface="Poppins SemiBold"/>
              </a:defRPr>
            </a:lvl1pPr>
            <a:lvl2pPr indent="-317500" lvl="1" marL="914400" marR="0" rtl="0" algn="l">
              <a:lnSpc>
                <a:spcPct val="115000"/>
              </a:lnSpc>
              <a:spcBef>
                <a:spcPts val="0"/>
              </a:spcBef>
              <a:spcAft>
                <a:spcPts val="0"/>
              </a:spcAft>
              <a:buClr>
                <a:schemeClr val="accent2"/>
              </a:buClr>
              <a:buSzPts val="1400"/>
              <a:buFont typeface="Poppins"/>
              <a:buChar char="○"/>
              <a:defRPr b="0" i="0" sz="1400" u="none" cap="none" strike="noStrike">
                <a:solidFill>
                  <a:schemeClr val="accent2"/>
                </a:solidFill>
                <a:latin typeface="Poppins"/>
                <a:ea typeface="Poppins"/>
                <a:cs typeface="Poppins"/>
                <a:sym typeface="Poppins"/>
              </a:defRPr>
            </a:lvl2pPr>
            <a:lvl3pPr indent="-317500" lvl="2" marL="1371600" marR="0" rtl="0" algn="l">
              <a:lnSpc>
                <a:spcPct val="115000"/>
              </a:lnSpc>
              <a:spcBef>
                <a:spcPts val="0"/>
              </a:spcBef>
              <a:spcAft>
                <a:spcPts val="0"/>
              </a:spcAft>
              <a:buClr>
                <a:schemeClr val="accent2"/>
              </a:buClr>
              <a:buSzPts val="1400"/>
              <a:buFont typeface="Poppins"/>
              <a:buChar char="■"/>
              <a:defRPr b="0" i="0" sz="1400" u="none" cap="none" strike="noStrike">
                <a:solidFill>
                  <a:schemeClr val="accent2"/>
                </a:solidFill>
                <a:latin typeface="Poppins"/>
                <a:ea typeface="Poppins"/>
                <a:cs typeface="Poppins"/>
                <a:sym typeface="Poppins"/>
              </a:defRPr>
            </a:lvl3pPr>
            <a:lvl4pPr indent="-317500" lvl="3" marL="1828800" marR="0" rtl="0" algn="l">
              <a:lnSpc>
                <a:spcPct val="115000"/>
              </a:lnSpc>
              <a:spcBef>
                <a:spcPts val="0"/>
              </a:spcBef>
              <a:spcAft>
                <a:spcPts val="0"/>
              </a:spcAft>
              <a:buClr>
                <a:schemeClr val="accent2"/>
              </a:buClr>
              <a:buSzPts val="1400"/>
              <a:buFont typeface="Poppins"/>
              <a:buChar char="●"/>
              <a:defRPr b="0" i="0" sz="1400" u="none" cap="none" strike="noStrike">
                <a:solidFill>
                  <a:schemeClr val="accent2"/>
                </a:solidFill>
                <a:latin typeface="Poppins"/>
                <a:ea typeface="Poppins"/>
                <a:cs typeface="Poppins"/>
                <a:sym typeface="Poppins"/>
              </a:defRPr>
            </a:lvl4pPr>
            <a:lvl5pPr indent="-317500" lvl="4" marL="2286000" marR="0" rtl="0" algn="l">
              <a:lnSpc>
                <a:spcPct val="115000"/>
              </a:lnSpc>
              <a:spcBef>
                <a:spcPts val="0"/>
              </a:spcBef>
              <a:spcAft>
                <a:spcPts val="0"/>
              </a:spcAft>
              <a:buClr>
                <a:schemeClr val="accent2"/>
              </a:buClr>
              <a:buSzPts val="1400"/>
              <a:buFont typeface="Poppins"/>
              <a:buChar char="○"/>
              <a:defRPr b="0" i="0" sz="1400" u="none" cap="none" strike="noStrike">
                <a:solidFill>
                  <a:schemeClr val="accent2"/>
                </a:solidFill>
                <a:latin typeface="Poppins"/>
                <a:ea typeface="Poppins"/>
                <a:cs typeface="Poppins"/>
                <a:sym typeface="Poppins"/>
              </a:defRPr>
            </a:lvl5pPr>
            <a:lvl6pPr indent="-317500" lvl="5" marL="2743200" marR="0" rtl="0" algn="l">
              <a:lnSpc>
                <a:spcPct val="115000"/>
              </a:lnSpc>
              <a:spcBef>
                <a:spcPts val="0"/>
              </a:spcBef>
              <a:spcAft>
                <a:spcPts val="0"/>
              </a:spcAft>
              <a:buClr>
                <a:schemeClr val="accent2"/>
              </a:buClr>
              <a:buSzPts val="1400"/>
              <a:buFont typeface="Poppins"/>
              <a:buChar char="■"/>
              <a:defRPr b="0" i="0" sz="1400" u="none" cap="none" strike="noStrike">
                <a:solidFill>
                  <a:schemeClr val="accent2"/>
                </a:solidFill>
                <a:latin typeface="Poppins"/>
                <a:ea typeface="Poppins"/>
                <a:cs typeface="Poppins"/>
                <a:sym typeface="Poppins"/>
              </a:defRPr>
            </a:lvl6pPr>
            <a:lvl7pPr indent="-317500" lvl="6" marL="3200400" marR="0" rtl="0" algn="l">
              <a:lnSpc>
                <a:spcPct val="115000"/>
              </a:lnSpc>
              <a:spcBef>
                <a:spcPts val="0"/>
              </a:spcBef>
              <a:spcAft>
                <a:spcPts val="0"/>
              </a:spcAft>
              <a:buClr>
                <a:schemeClr val="accent2"/>
              </a:buClr>
              <a:buSzPts val="1400"/>
              <a:buFont typeface="Poppins"/>
              <a:buChar char="●"/>
              <a:defRPr b="0" i="0" sz="1400" u="none" cap="none" strike="noStrike">
                <a:solidFill>
                  <a:schemeClr val="accent2"/>
                </a:solidFill>
                <a:latin typeface="Poppins"/>
                <a:ea typeface="Poppins"/>
                <a:cs typeface="Poppins"/>
                <a:sym typeface="Poppins"/>
              </a:defRPr>
            </a:lvl7pPr>
            <a:lvl8pPr indent="-317500" lvl="7" marL="3657600" marR="0" rtl="0" algn="l">
              <a:lnSpc>
                <a:spcPct val="115000"/>
              </a:lnSpc>
              <a:spcBef>
                <a:spcPts val="0"/>
              </a:spcBef>
              <a:spcAft>
                <a:spcPts val="0"/>
              </a:spcAft>
              <a:buClr>
                <a:schemeClr val="accent2"/>
              </a:buClr>
              <a:buSzPts val="1400"/>
              <a:buFont typeface="Poppins"/>
              <a:buChar char="○"/>
              <a:defRPr b="0" i="0" sz="1400" u="none" cap="none" strike="noStrike">
                <a:solidFill>
                  <a:schemeClr val="accent2"/>
                </a:solidFill>
                <a:latin typeface="Poppins"/>
                <a:ea typeface="Poppins"/>
                <a:cs typeface="Poppins"/>
                <a:sym typeface="Poppins"/>
              </a:defRPr>
            </a:lvl8pPr>
            <a:lvl9pPr indent="-317500" lvl="8" marL="4114800" marR="0" rtl="0" algn="l">
              <a:lnSpc>
                <a:spcPct val="115000"/>
              </a:lnSpc>
              <a:spcBef>
                <a:spcPts val="0"/>
              </a:spcBef>
              <a:spcAft>
                <a:spcPts val="0"/>
              </a:spcAft>
              <a:buClr>
                <a:schemeClr val="accent2"/>
              </a:buClr>
              <a:buSzPts val="1400"/>
              <a:buFont typeface="Poppins"/>
              <a:buChar char="■"/>
              <a:defRPr b="0" i="0" sz="1400" u="none" cap="none" strike="noStrike">
                <a:solidFill>
                  <a:schemeClr val="accent2"/>
                </a:solidFill>
                <a:latin typeface="Poppins"/>
                <a:ea typeface="Poppins"/>
                <a:cs typeface="Poppins"/>
                <a:sym typeface="Poppins"/>
              </a:defRPr>
            </a:lvl9pPr>
          </a:lstStyle>
          <a:p/>
        </p:txBody>
      </p:sp>
      <p:sp>
        <p:nvSpPr>
          <p:cNvPr id="8" name="Google Shape;8;p6"/>
          <p:cNvSpPr txBox="1"/>
          <p:nvPr>
            <p:ph idx="12" type="sldNum"/>
          </p:nvPr>
        </p:nvSpPr>
        <p:spPr>
          <a:xfrm>
            <a:off x="8472458" y="47394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data.kemendikdasmen.go.id/" TargetMode="Externa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4.png"/><Relationship Id="rId5" Type="http://schemas.openxmlformats.org/officeDocument/2006/relationships/hyperlink" Target="http://www.linkedin.com/in/m-farkha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nvSpPr>
        <p:spPr>
          <a:xfrm>
            <a:off x="215700" y="859800"/>
            <a:ext cx="4356300" cy="2404200"/>
          </a:xfrm>
          <a:prstGeom prst="rect">
            <a:avLst/>
          </a:prstGeom>
          <a:noFill/>
          <a:ln>
            <a:noFill/>
          </a:ln>
        </p:spPr>
        <p:txBody>
          <a:bodyPr anchorCtr="0" anchor="ctr"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3400"/>
              <a:buFont typeface="Arial"/>
              <a:buNone/>
            </a:pPr>
            <a:r>
              <a:rPr b="1" lang="en" sz="2200">
                <a:solidFill>
                  <a:srgbClr val="FFFFFF"/>
                </a:solidFill>
                <a:latin typeface="Poppins"/>
                <a:ea typeface="Poppins"/>
                <a:cs typeface="Poppins"/>
                <a:sym typeface="Poppins"/>
              </a:rPr>
              <a:t>Analisis Data Siswa Putus Sekolah di Indonesia Tahun Ajaran 2022/2023</a:t>
            </a:r>
            <a:endParaRPr b="1" i="0" sz="2200" u="none" cap="none" strike="noStrike">
              <a:solidFill>
                <a:srgbClr val="FFFFFF"/>
              </a:solidFill>
              <a:latin typeface="Poppins"/>
              <a:ea typeface="Poppins"/>
              <a:cs typeface="Poppins"/>
              <a:sym typeface="Poppins"/>
            </a:endParaRPr>
          </a:p>
        </p:txBody>
      </p:sp>
      <p:sp>
        <p:nvSpPr>
          <p:cNvPr id="45" name="Google Shape;45;p1"/>
          <p:cNvSpPr txBox="1"/>
          <p:nvPr/>
        </p:nvSpPr>
        <p:spPr>
          <a:xfrm>
            <a:off x="215700" y="4315375"/>
            <a:ext cx="4248300" cy="590700"/>
          </a:xfrm>
          <a:prstGeom prst="rect">
            <a:avLst/>
          </a:prstGeom>
          <a:noFill/>
          <a:ln>
            <a:noFill/>
          </a:ln>
        </p:spPr>
        <p:txBody>
          <a:bodyPr anchorCtr="0" anchor="ctr" bIns="91425" lIns="91425" spcFirstLastPara="1" rIns="91425" wrap="square" tIns="91425">
            <a:noAutofit/>
          </a:bodyPr>
          <a:lstStyle/>
          <a:p>
            <a:pPr indent="0" lvl="0" marL="0" marR="0" rtl="0" algn="l">
              <a:lnSpc>
                <a:spcPct val="80000"/>
              </a:lnSpc>
              <a:spcBef>
                <a:spcPts val="0"/>
              </a:spcBef>
              <a:spcAft>
                <a:spcPts val="0"/>
              </a:spcAft>
              <a:buClr>
                <a:srgbClr val="000000"/>
              </a:buClr>
              <a:buSzPts val="1615"/>
              <a:buFont typeface="Arial"/>
              <a:buNone/>
            </a:pPr>
            <a:r>
              <a:rPr lang="en" sz="1815">
                <a:solidFill>
                  <a:srgbClr val="212121"/>
                </a:solidFill>
                <a:latin typeface="Poppins SemiBold"/>
                <a:ea typeface="Poppins SemiBold"/>
                <a:cs typeface="Poppins SemiBold"/>
                <a:sym typeface="Poppins SemiBold"/>
              </a:rPr>
              <a:t>Muhammad Farkhan</a:t>
            </a:r>
            <a:endParaRPr sz="1815">
              <a:solidFill>
                <a:srgbClr val="212121"/>
              </a:solidFill>
              <a:latin typeface="Poppins SemiBold"/>
              <a:ea typeface="Poppins SemiBold"/>
              <a:cs typeface="Poppins SemiBold"/>
              <a:sym typeface="Poppins SemiBold"/>
            </a:endParaRPr>
          </a:p>
          <a:p>
            <a:pPr indent="0" lvl="0" marL="0" marR="0" rtl="0" algn="l">
              <a:lnSpc>
                <a:spcPct val="80000"/>
              </a:lnSpc>
              <a:spcBef>
                <a:spcPts val="0"/>
              </a:spcBef>
              <a:spcAft>
                <a:spcPts val="0"/>
              </a:spcAft>
              <a:buClr>
                <a:srgbClr val="000000"/>
              </a:buClr>
              <a:buSzPts val="1615"/>
              <a:buFont typeface="Arial"/>
              <a:buNone/>
            </a:pPr>
            <a:r>
              <a:rPr lang="en" sz="1815">
                <a:solidFill>
                  <a:srgbClr val="212121"/>
                </a:solidFill>
                <a:latin typeface="Poppins SemiBold"/>
                <a:ea typeface="Poppins SemiBold"/>
                <a:cs typeface="Poppins SemiBold"/>
                <a:sym typeface="Poppins SemiBold"/>
              </a:rPr>
              <a:t>EXC16200</a:t>
            </a:r>
            <a:endParaRPr sz="1815">
              <a:solidFill>
                <a:srgbClr val="212121"/>
              </a:solidFill>
              <a:latin typeface="Poppins SemiBold"/>
              <a:ea typeface="Poppins SemiBold"/>
              <a:cs typeface="Poppins SemiBold"/>
              <a:sym typeface="Poppins SemiBold"/>
            </a:endParaRPr>
          </a:p>
        </p:txBody>
      </p:sp>
      <p:sp>
        <p:nvSpPr>
          <p:cNvPr id="46" name="Google Shape;46;p1"/>
          <p:cNvSpPr txBox="1"/>
          <p:nvPr/>
        </p:nvSpPr>
        <p:spPr>
          <a:xfrm>
            <a:off x="215700" y="3681875"/>
            <a:ext cx="4248300" cy="590700"/>
          </a:xfrm>
          <a:prstGeom prst="rect">
            <a:avLst/>
          </a:prstGeom>
          <a:noFill/>
          <a:ln>
            <a:noFill/>
          </a:ln>
        </p:spPr>
        <p:txBody>
          <a:bodyPr anchorCtr="0" anchor="ctr"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1900"/>
              <a:buFont typeface="Arial"/>
              <a:buNone/>
            </a:pPr>
            <a:r>
              <a:rPr i="0" lang="en" u="none" cap="none" strike="noStrike">
                <a:solidFill>
                  <a:srgbClr val="212121"/>
                </a:solidFill>
                <a:latin typeface="Poppins Light"/>
                <a:ea typeface="Poppins Light"/>
                <a:cs typeface="Poppins Light"/>
                <a:sym typeface="Poppins Light"/>
              </a:rPr>
              <a:t>Bootcamp Data Analyst with Excel</a:t>
            </a:r>
            <a:endParaRPr i="0" u="none" cap="none" strike="noStrike">
              <a:solidFill>
                <a:srgbClr val="212121"/>
              </a:solidFill>
              <a:latin typeface="Poppins Light"/>
              <a:ea typeface="Poppins Light"/>
              <a:cs typeface="Poppins Light"/>
              <a:sym typeface="Poppi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2"/>
          <p:cNvSpPr txBox="1"/>
          <p:nvPr>
            <p:ph type="title"/>
          </p:nvPr>
        </p:nvSpPr>
        <p:spPr>
          <a:xfrm>
            <a:off x="1080000" y="414350"/>
            <a:ext cx="6984000" cy="841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2880"/>
              <a:buNone/>
            </a:pPr>
            <a:r>
              <a:t/>
            </a:r>
            <a:endParaRPr sz="2000"/>
          </a:p>
          <a:p>
            <a:pPr indent="0" lvl="0" marL="0" rtl="0" algn="ctr">
              <a:lnSpc>
                <a:spcPct val="100000"/>
              </a:lnSpc>
              <a:spcBef>
                <a:spcPts val="0"/>
              </a:spcBef>
              <a:spcAft>
                <a:spcPts val="0"/>
              </a:spcAft>
              <a:buSzPts val="2880"/>
              <a:buNone/>
            </a:pPr>
            <a:r>
              <a:rPr lang="en" sz="2000"/>
              <a:t>Mengapa Pendidikan Itu Penting?</a:t>
            </a:r>
            <a:endParaRPr sz="2000"/>
          </a:p>
        </p:txBody>
      </p:sp>
      <p:sp>
        <p:nvSpPr>
          <p:cNvPr id="52" name="Google Shape;52;p2"/>
          <p:cNvSpPr txBox="1"/>
          <p:nvPr/>
        </p:nvSpPr>
        <p:spPr>
          <a:xfrm>
            <a:off x="2889350" y="1373025"/>
            <a:ext cx="4127700" cy="11988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800">
              <a:solidFill>
                <a:schemeClr val="accent2"/>
              </a:solidFill>
              <a:latin typeface="Poppins SemiBold"/>
              <a:ea typeface="Poppins SemiBold"/>
              <a:cs typeface="Poppins SemiBold"/>
              <a:sym typeface="Poppins SemiBold"/>
            </a:endParaRPr>
          </a:p>
        </p:txBody>
      </p:sp>
      <p:sp>
        <p:nvSpPr>
          <p:cNvPr id="53" name="Google Shape;53;p2"/>
          <p:cNvSpPr txBox="1"/>
          <p:nvPr/>
        </p:nvSpPr>
        <p:spPr>
          <a:xfrm>
            <a:off x="711750" y="1431475"/>
            <a:ext cx="7720500" cy="2822100"/>
          </a:xfrm>
          <a:prstGeom prst="rect">
            <a:avLst/>
          </a:prstGeom>
          <a:noFill/>
          <a:ln>
            <a:noFill/>
          </a:ln>
        </p:spPr>
        <p:txBody>
          <a:bodyPr anchorCtr="0" anchor="t" bIns="91425" lIns="91425" spcFirstLastPara="1" rIns="91425" wrap="square" tIns="91425">
            <a:noAutofit/>
          </a:bodyPr>
          <a:lstStyle/>
          <a:p>
            <a:pPr indent="457200" lvl="0" marL="0" rtl="0" algn="just">
              <a:lnSpc>
                <a:spcPct val="150000"/>
              </a:lnSpc>
              <a:spcBef>
                <a:spcPts val="0"/>
              </a:spcBef>
              <a:spcAft>
                <a:spcPts val="0"/>
              </a:spcAft>
              <a:buNone/>
            </a:pPr>
            <a:r>
              <a:rPr lang="en">
                <a:solidFill>
                  <a:schemeClr val="lt1"/>
                </a:solidFill>
                <a:latin typeface="Poppins"/>
                <a:ea typeface="Poppins"/>
                <a:cs typeface="Poppins"/>
                <a:sym typeface="Poppins"/>
              </a:rPr>
              <a:t>Pendidikan merupakan proses pembelajaran yang memberikan pengetahuan, keterampilan, dan nilai-nilai penting bagi perkembangan individu. Sebagai hak dasar setiap anak, pendidikan berperan fundamental dalam membentuk karakter, meningkatkan kualitas hidup, dan mempersiapkan generasi masa depan yang kompeten. Sayangnya, masih banyak anak di Indonesia yang tidak menyelesaikan pendidikan wajibnya. Tahun ajaran 2022/2023 menjadi cerminan penting untuk melihat lebih dalam masalah ini.</a:t>
            </a:r>
            <a:endParaRPr>
              <a:solidFill>
                <a:schemeClr val="lt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g35fbf00b190_0_1"/>
          <p:cNvSpPr txBox="1"/>
          <p:nvPr>
            <p:ph type="title"/>
          </p:nvPr>
        </p:nvSpPr>
        <p:spPr>
          <a:xfrm>
            <a:off x="1080000" y="399125"/>
            <a:ext cx="69840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000"/>
              <a:t>Tujuan Analisis</a:t>
            </a:r>
            <a:endParaRPr b="0" sz="1300">
              <a:latin typeface="Poppins SemiBold"/>
              <a:ea typeface="Poppins SemiBold"/>
              <a:cs typeface="Poppins SemiBold"/>
              <a:sym typeface="Poppins SemiBold"/>
            </a:endParaRPr>
          </a:p>
        </p:txBody>
      </p:sp>
      <p:sp>
        <p:nvSpPr>
          <p:cNvPr id="59" name="Google Shape;59;g35fbf00b190_0_1"/>
          <p:cNvSpPr txBox="1"/>
          <p:nvPr/>
        </p:nvSpPr>
        <p:spPr>
          <a:xfrm>
            <a:off x="895950" y="1301225"/>
            <a:ext cx="7352100" cy="2822100"/>
          </a:xfrm>
          <a:prstGeom prst="rect">
            <a:avLst/>
          </a:prstGeom>
          <a:noFill/>
          <a:ln>
            <a:noFill/>
          </a:ln>
        </p:spPr>
        <p:txBody>
          <a:bodyPr anchorCtr="0" anchor="t" bIns="91425" lIns="91425" spcFirstLastPara="1" rIns="91425" wrap="square" tIns="91425">
            <a:noAutofit/>
          </a:bodyPr>
          <a:lstStyle/>
          <a:p>
            <a:pPr indent="457200" lvl="0" marL="0" rtl="0" algn="just">
              <a:lnSpc>
                <a:spcPct val="150000"/>
              </a:lnSpc>
              <a:spcBef>
                <a:spcPts val="0"/>
              </a:spcBef>
              <a:spcAft>
                <a:spcPts val="0"/>
              </a:spcAft>
              <a:buNone/>
            </a:pPr>
            <a:r>
              <a:rPr lang="en">
                <a:solidFill>
                  <a:schemeClr val="lt1"/>
                </a:solidFill>
                <a:latin typeface="Poppins"/>
                <a:ea typeface="Poppins"/>
                <a:cs typeface="Poppins"/>
                <a:sym typeface="Poppins"/>
              </a:rPr>
              <a:t>Berdasarkan urgensi tersebut, diperlukan analisis komprehensif untuk memahami pola putus sekolah di Indonesia. Melalui pendekatan data yang sistematis, diharapkan dapat diperoleh insight yang mendukung perumusan kebijakan yang tepat sasaran. Untuk mencapai tujuan tersebut, analisis akan meliputi:</a:t>
            </a:r>
            <a:endParaRPr>
              <a:solidFill>
                <a:schemeClr val="lt1"/>
              </a:solidFill>
              <a:latin typeface="Poppins"/>
              <a:ea typeface="Poppins"/>
              <a:cs typeface="Poppins"/>
              <a:sym typeface="Poppins"/>
            </a:endParaRPr>
          </a:p>
          <a:p>
            <a:pPr indent="-317500" lvl="0" marL="457200" rtl="0" algn="just">
              <a:lnSpc>
                <a:spcPct val="150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Mengidentifikasi jumlah siswa putus sekolah di tiap Jenjang (SD, SMP, SMA, dan SMK).</a:t>
            </a:r>
            <a:endParaRPr>
              <a:solidFill>
                <a:schemeClr val="lt1"/>
              </a:solidFill>
              <a:latin typeface="Poppins"/>
              <a:ea typeface="Poppins"/>
              <a:cs typeface="Poppins"/>
              <a:sym typeface="Poppins"/>
            </a:endParaRPr>
          </a:p>
          <a:p>
            <a:pPr indent="-317500" lvl="0" marL="457200" rtl="0" algn="just">
              <a:lnSpc>
                <a:spcPct val="150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Menelusuri wilayah dengan tingkat kasus tertinggi.</a:t>
            </a:r>
            <a:endParaRPr>
              <a:solidFill>
                <a:schemeClr val="lt1"/>
              </a:solidFill>
              <a:latin typeface="Poppins"/>
              <a:ea typeface="Poppins"/>
              <a:cs typeface="Poppins"/>
              <a:sym typeface="Poppins"/>
            </a:endParaRPr>
          </a:p>
          <a:p>
            <a:pPr indent="-317500" lvl="0" marL="457200" rtl="0" algn="just">
              <a:lnSpc>
                <a:spcPct val="150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Menganalisis distribusi kasus berdasarkan wilayah dan tingkat pendidikan.</a:t>
            </a:r>
            <a:endParaRPr>
              <a:solidFill>
                <a:schemeClr val="lt1"/>
              </a:solidFill>
              <a:latin typeface="Poppins"/>
              <a:ea typeface="Poppins"/>
              <a:cs typeface="Poppins"/>
              <a:sym typeface="Poppins"/>
            </a:endParaRPr>
          </a:p>
          <a:p>
            <a:pPr indent="-317500" lvl="0" marL="457200" rtl="0" algn="just">
              <a:lnSpc>
                <a:spcPct val="150000"/>
              </a:lnSpc>
              <a:spcBef>
                <a:spcPts val="0"/>
              </a:spcBef>
              <a:spcAft>
                <a:spcPts val="0"/>
              </a:spcAft>
              <a:buClr>
                <a:schemeClr val="lt1"/>
              </a:buClr>
              <a:buSzPts val="1400"/>
              <a:buFont typeface="Poppins"/>
              <a:buChar char="●"/>
            </a:pPr>
            <a:r>
              <a:rPr lang="en">
                <a:solidFill>
                  <a:schemeClr val="lt1"/>
                </a:solidFill>
                <a:latin typeface="Poppins"/>
                <a:ea typeface="Poppins"/>
                <a:cs typeface="Poppins"/>
                <a:sym typeface="Poppins"/>
              </a:rPr>
              <a:t>Memberikan gambaran awal untuk penyusunan solusi kebijakan.</a:t>
            </a:r>
            <a:endParaRPr>
              <a:solidFill>
                <a:schemeClr val="lt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g33690066d17_0_2"/>
          <p:cNvSpPr txBox="1"/>
          <p:nvPr>
            <p:ph type="title"/>
          </p:nvPr>
        </p:nvSpPr>
        <p:spPr>
          <a:xfrm>
            <a:off x="1080000" y="387225"/>
            <a:ext cx="69840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000"/>
              <a:t>Deskripsi Data</a:t>
            </a:r>
            <a:endParaRPr sz="2000"/>
          </a:p>
        </p:txBody>
      </p:sp>
      <p:sp>
        <p:nvSpPr>
          <p:cNvPr id="65" name="Google Shape;65;g33690066d17_0_2"/>
          <p:cNvSpPr txBox="1"/>
          <p:nvPr/>
        </p:nvSpPr>
        <p:spPr>
          <a:xfrm>
            <a:off x="711750" y="1261138"/>
            <a:ext cx="7720500" cy="1400700"/>
          </a:xfrm>
          <a:prstGeom prst="rect">
            <a:avLst/>
          </a:prstGeom>
          <a:noFill/>
          <a:ln>
            <a:noFill/>
          </a:ln>
        </p:spPr>
        <p:txBody>
          <a:bodyPr anchorCtr="0" anchor="t" bIns="91425" lIns="91425" spcFirstLastPara="1" rIns="91425" wrap="square" tIns="91425">
            <a:noAutofit/>
          </a:bodyPr>
          <a:lstStyle/>
          <a:p>
            <a:pPr indent="457200" lvl="0" marL="0" rtl="0" algn="just">
              <a:lnSpc>
                <a:spcPct val="150000"/>
              </a:lnSpc>
              <a:spcBef>
                <a:spcPts val="0"/>
              </a:spcBef>
              <a:spcAft>
                <a:spcPts val="0"/>
              </a:spcAft>
              <a:buNone/>
            </a:pPr>
            <a:r>
              <a:rPr lang="en">
                <a:solidFill>
                  <a:schemeClr val="lt1"/>
                </a:solidFill>
                <a:latin typeface="Poppins"/>
                <a:ea typeface="Poppins"/>
                <a:cs typeface="Poppins"/>
                <a:sym typeface="Poppins"/>
              </a:rPr>
              <a:t>Analisis ini menggunakan data resmi putus sekolah nasional tahun 2022/2023 yang diolah dengan Excel. Data bersumber dari Portal Data Kemendikdasmen mencakup 34 provinsi dan 514 kabupaten/kota di Indonesia. Dataset berisi rincian siswa putus sekolah untuk jenjang SD, SMP, SMA, dan SMK dengan kolom:</a:t>
            </a:r>
            <a:endParaRPr>
              <a:solidFill>
                <a:schemeClr val="lt1"/>
              </a:solidFill>
              <a:latin typeface="Poppins"/>
              <a:ea typeface="Poppins"/>
              <a:cs typeface="Poppins"/>
              <a:sym typeface="Poppins"/>
            </a:endParaRPr>
          </a:p>
        </p:txBody>
      </p:sp>
      <p:pic>
        <p:nvPicPr>
          <p:cNvPr id="66" name="Google Shape;66;g33690066d17_0_2">
            <a:hlinkClick r:id="rId3"/>
          </p:cNvPr>
          <p:cNvPicPr preferRelativeResize="0"/>
          <p:nvPr/>
        </p:nvPicPr>
        <p:blipFill>
          <a:blip r:embed="rId4">
            <a:alphaModFix/>
          </a:blip>
          <a:stretch>
            <a:fillRect/>
          </a:stretch>
        </p:blipFill>
        <p:spPr>
          <a:xfrm>
            <a:off x="7260675" y="2890675"/>
            <a:ext cx="1171576" cy="1171576"/>
          </a:xfrm>
          <a:prstGeom prst="rect">
            <a:avLst/>
          </a:prstGeom>
          <a:noFill/>
          <a:ln>
            <a:noFill/>
          </a:ln>
        </p:spPr>
      </p:pic>
      <p:sp>
        <p:nvSpPr>
          <p:cNvPr id="67" name="Google Shape;67;g33690066d17_0_2"/>
          <p:cNvSpPr txBox="1"/>
          <p:nvPr/>
        </p:nvSpPr>
        <p:spPr>
          <a:xfrm>
            <a:off x="5347050" y="3177675"/>
            <a:ext cx="1967100" cy="841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 sz="1000">
                <a:solidFill>
                  <a:schemeClr val="lt1"/>
                </a:solidFill>
                <a:latin typeface="Poppins Light"/>
                <a:ea typeface="Poppins Light"/>
                <a:cs typeface="Poppins Light"/>
                <a:sym typeface="Poppins Light"/>
              </a:rPr>
              <a:t>Klik </a:t>
            </a:r>
            <a:r>
              <a:rPr lang="en" sz="1000">
                <a:solidFill>
                  <a:schemeClr val="lt1"/>
                </a:solidFill>
                <a:latin typeface="Poppins Light"/>
                <a:ea typeface="Poppins Light"/>
                <a:cs typeface="Poppins Light"/>
                <a:sym typeface="Poppins Light"/>
              </a:rPr>
              <a:t>logo</a:t>
            </a:r>
            <a:r>
              <a:rPr lang="en" sz="1000">
                <a:solidFill>
                  <a:schemeClr val="lt1"/>
                </a:solidFill>
                <a:latin typeface="Poppins Light"/>
                <a:ea typeface="Poppins Light"/>
                <a:cs typeface="Poppins Light"/>
                <a:sym typeface="Poppins Light"/>
              </a:rPr>
              <a:t> berikut ini untuk link Portal Data :</a:t>
            </a:r>
            <a:endParaRPr sz="1000">
              <a:solidFill>
                <a:schemeClr val="lt1"/>
              </a:solidFill>
              <a:latin typeface="Poppins Light"/>
              <a:ea typeface="Poppins Light"/>
              <a:cs typeface="Poppins Light"/>
              <a:sym typeface="Poppins Light"/>
            </a:endParaRPr>
          </a:p>
        </p:txBody>
      </p:sp>
      <p:sp>
        <p:nvSpPr>
          <p:cNvPr id="68" name="Google Shape;68;g33690066d17_0_2"/>
          <p:cNvSpPr/>
          <p:nvPr/>
        </p:nvSpPr>
        <p:spPr>
          <a:xfrm>
            <a:off x="835975" y="2693975"/>
            <a:ext cx="1315200" cy="395700"/>
          </a:xfrm>
          <a:prstGeom prst="roundRect">
            <a:avLst>
              <a:gd fmla="val 16667" name="adj"/>
            </a:avLst>
          </a:prstGeom>
          <a:noFill/>
          <a:ln cap="flat" cmpd="sng" w="9525">
            <a:solidFill>
              <a:srgbClr val="C3F73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SemiBold"/>
                <a:ea typeface="Poppins SemiBold"/>
                <a:cs typeface="Poppins SemiBold"/>
                <a:sym typeface="Poppins SemiBold"/>
              </a:rPr>
              <a:t>Kode Kemdagri</a:t>
            </a:r>
            <a:endParaRPr sz="1000">
              <a:solidFill>
                <a:schemeClr val="lt1"/>
              </a:solidFill>
              <a:latin typeface="Poppins SemiBold"/>
              <a:ea typeface="Poppins SemiBold"/>
              <a:cs typeface="Poppins SemiBold"/>
              <a:sym typeface="Poppins SemiBold"/>
            </a:endParaRPr>
          </a:p>
        </p:txBody>
      </p:sp>
      <p:sp>
        <p:nvSpPr>
          <p:cNvPr id="69" name="Google Shape;69;g33690066d17_0_2"/>
          <p:cNvSpPr/>
          <p:nvPr/>
        </p:nvSpPr>
        <p:spPr>
          <a:xfrm>
            <a:off x="2239475" y="2693975"/>
            <a:ext cx="1315200" cy="395700"/>
          </a:xfrm>
          <a:prstGeom prst="roundRect">
            <a:avLst>
              <a:gd fmla="val 16667" name="adj"/>
            </a:avLst>
          </a:prstGeom>
          <a:noFill/>
          <a:ln cap="flat" cmpd="sng" w="9525">
            <a:solidFill>
              <a:srgbClr val="C3F73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SemiBold"/>
                <a:ea typeface="Poppins SemiBold"/>
                <a:cs typeface="Poppins SemiBold"/>
                <a:sym typeface="Poppins SemiBold"/>
              </a:rPr>
              <a:t>Kode BPS</a:t>
            </a:r>
            <a:endParaRPr sz="1000">
              <a:solidFill>
                <a:schemeClr val="lt1"/>
              </a:solidFill>
              <a:latin typeface="Poppins SemiBold"/>
              <a:ea typeface="Poppins SemiBold"/>
              <a:cs typeface="Poppins SemiBold"/>
              <a:sym typeface="Poppins SemiBold"/>
            </a:endParaRPr>
          </a:p>
        </p:txBody>
      </p:sp>
      <p:sp>
        <p:nvSpPr>
          <p:cNvPr id="70" name="Google Shape;70;g33690066d17_0_2"/>
          <p:cNvSpPr/>
          <p:nvPr/>
        </p:nvSpPr>
        <p:spPr>
          <a:xfrm>
            <a:off x="3642975" y="2693975"/>
            <a:ext cx="1315200" cy="395700"/>
          </a:xfrm>
          <a:prstGeom prst="roundRect">
            <a:avLst>
              <a:gd fmla="val 16667" name="adj"/>
            </a:avLst>
          </a:prstGeom>
          <a:noFill/>
          <a:ln cap="flat" cmpd="sng" w="9525">
            <a:solidFill>
              <a:srgbClr val="C3F73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SemiBold"/>
                <a:ea typeface="Poppins SemiBold"/>
                <a:cs typeface="Poppins SemiBold"/>
                <a:sym typeface="Poppins SemiBold"/>
              </a:rPr>
              <a:t>Provinsi</a:t>
            </a:r>
            <a:endParaRPr sz="1000">
              <a:solidFill>
                <a:schemeClr val="lt1"/>
              </a:solidFill>
              <a:latin typeface="Poppins SemiBold"/>
              <a:ea typeface="Poppins SemiBold"/>
              <a:cs typeface="Poppins SemiBold"/>
              <a:sym typeface="Poppins SemiBold"/>
            </a:endParaRPr>
          </a:p>
        </p:txBody>
      </p:sp>
      <p:sp>
        <p:nvSpPr>
          <p:cNvPr id="71" name="Google Shape;71;g33690066d17_0_2"/>
          <p:cNvSpPr/>
          <p:nvPr/>
        </p:nvSpPr>
        <p:spPr>
          <a:xfrm>
            <a:off x="835975" y="3241375"/>
            <a:ext cx="1315200" cy="395700"/>
          </a:xfrm>
          <a:prstGeom prst="roundRect">
            <a:avLst>
              <a:gd fmla="val 16667" name="adj"/>
            </a:avLst>
          </a:prstGeom>
          <a:noFill/>
          <a:ln cap="flat" cmpd="sng" w="9525">
            <a:solidFill>
              <a:srgbClr val="C3F73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SemiBold"/>
                <a:ea typeface="Poppins SemiBold"/>
                <a:cs typeface="Poppins SemiBold"/>
                <a:sym typeface="Poppins SemiBold"/>
              </a:rPr>
              <a:t>Kabupaten/Kota</a:t>
            </a:r>
            <a:endParaRPr sz="1000">
              <a:solidFill>
                <a:schemeClr val="lt1"/>
              </a:solidFill>
              <a:latin typeface="Poppins SemiBold"/>
              <a:ea typeface="Poppins SemiBold"/>
              <a:cs typeface="Poppins SemiBold"/>
              <a:sym typeface="Poppins SemiBold"/>
            </a:endParaRPr>
          </a:p>
        </p:txBody>
      </p:sp>
      <p:sp>
        <p:nvSpPr>
          <p:cNvPr id="72" name="Google Shape;72;g33690066d17_0_2"/>
          <p:cNvSpPr/>
          <p:nvPr/>
        </p:nvSpPr>
        <p:spPr>
          <a:xfrm>
            <a:off x="2239475" y="3241375"/>
            <a:ext cx="1315200" cy="395700"/>
          </a:xfrm>
          <a:prstGeom prst="roundRect">
            <a:avLst>
              <a:gd fmla="val 16667" name="adj"/>
            </a:avLst>
          </a:prstGeom>
          <a:noFill/>
          <a:ln cap="flat" cmpd="sng" w="9525">
            <a:solidFill>
              <a:srgbClr val="C3F73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SemiBold"/>
                <a:ea typeface="Poppins SemiBold"/>
                <a:cs typeface="Poppins SemiBold"/>
                <a:sym typeface="Poppins SemiBold"/>
              </a:rPr>
              <a:t>Jumlah</a:t>
            </a:r>
            <a:endParaRPr sz="1000">
              <a:solidFill>
                <a:schemeClr val="lt1"/>
              </a:solidFill>
              <a:latin typeface="Poppins SemiBold"/>
              <a:ea typeface="Poppins SemiBold"/>
              <a:cs typeface="Poppins SemiBold"/>
              <a:sym typeface="Poppins SemiBold"/>
            </a:endParaRPr>
          </a:p>
        </p:txBody>
      </p:sp>
      <p:sp>
        <p:nvSpPr>
          <p:cNvPr id="73" name="Google Shape;73;g33690066d17_0_2"/>
          <p:cNvSpPr/>
          <p:nvPr/>
        </p:nvSpPr>
        <p:spPr>
          <a:xfrm>
            <a:off x="3642975" y="3241375"/>
            <a:ext cx="1315200" cy="395700"/>
          </a:xfrm>
          <a:prstGeom prst="roundRect">
            <a:avLst>
              <a:gd fmla="val 16667" name="adj"/>
            </a:avLst>
          </a:prstGeom>
          <a:noFill/>
          <a:ln cap="flat" cmpd="sng" w="9525">
            <a:solidFill>
              <a:srgbClr val="C3F73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SemiBold"/>
                <a:ea typeface="Poppins SemiBold"/>
                <a:cs typeface="Poppins SemiBold"/>
                <a:sym typeface="Poppins SemiBold"/>
              </a:rPr>
              <a:t>Jenjang</a:t>
            </a:r>
            <a:endParaRPr sz="1000">
              <a:solidFill>
                <a:schemeClr val="lt1"/>
              </a:solidFill>
              <a:latin typeface="Poppins SemiBold"/>
              <a:ea typeface="Poppins SemiBold"/>
              <a:cs typeface="Poppins SemiBold"/>
              <a:sym typeface="Poppins SemiBold"/>
            </a:endParaRPr>
          </a:p>
        </p:txBody>
      </p:sp>
      <p:sp>
        <p:nvSpPr>
          <p:cNvPr id="74" name="Google Shape;74;g33690066d17_0_2"/>
          <p:cNvSpPr/>
          <p:nvPr/>
        </p:nvSpPr>
        <p:spPr>
          <a:xfrm>
            <a:off x="835975" y="3788775"/>
            <a:ext cx="1315200" cy="395700"/>
          </a:xfrm>
          <a:prstGeom prst="roundRect">
            <a:avLst>
              <a:gd fmla="val 16667" name="adj"/>
            </a:avLst>
          </a:prstGeom>
          <a:noFill/>
          <a:ln cap="flat" cmpd="sng" w="9525">
            <a:solidFill>
              <a:srgbClr val="C3F73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SemiBold"/>
                <a:ea typeface="Poppins SemiBold"/>
                <a:cs typeface="Poppins SemiBold"/>
                <a:sym typeface="Poppins SemiBold"/>
              </a:rPr>
              <a:t>Tahun Ajaran</a:t>
            </a:r>
            <a:endParaRPr sz="1000">
              <a:solidFill>
                <a:schemeClr val="lt1"/>
              </a:solidFill>
              <a:latin typeface="Poppins SemiBold"/>
              <a:ea typeface="Poppins SemiBold"/>
              <a:cs typeface="Poppins SemiBold"/>
              <a:sym typeface="Poppins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3"/>
          <p:cNvPicPr preferRelativeResize="0"/>
          <p:nvPr/>
        </p:nvPicPr>
        <p:blipFill>
          <a:blip r:embed="rId3">
            <a:alphaModFix/>
          </a:blip>
          <a:stretch>
            <a:fillRect/>
          </a:stretch>
        </p:blipFill>
        <p:spPr>
          <a:xfrm>
            <a:off x="310100" y="1711350"/>
            <a:ext cx="2219325" cy="1314450"/>
          </a:xfrm>
          <a:prstGeom prst="rect">
            <a:avLst/>
          </a:prstGeom>
          <a:noFill/>
          <a:ln>
            <a:noFill/>
          </a:ln>
        </p:spPr>
      </p:pic>
      <p:sp>
        <p:nvSpPr>
          <p:cNvPr id="80" name="Google Shape;80;p3"/>
          <p:cNvSpPr txBox="1"/>
          <p:nvPr/>
        </p:nvSpPr>
        <p:spPr>
          <a:xfrm>
            <a:off x="2829025" y="1512000"/>
            <a:ext cx="5931000" cy="2619900"/>
          </a:xfrm>
          <a:prstGeom prst="rect">
            <a:avLst/>
          </a:prstGeom>
          <a:noFill/>
          <a:ln>
            <a:noFill/>
          </a:ln>
        </p:spPr>
        <p:txBody>
          <a:bodyPr anchorCtr="0" anchor="t" bIns="91425" lIns="91425" spcFirstLastPara="1" rIns="91425" wrap="square" tIns="91425">
            <a:noAutofit/>
          </a:bodyPr>
          <a:lstStyle/>
          <a:p>
            <a:pPr indent="457200" lvl="0" marL="0" rtl="0" algn="just">
              <a:lnSpc>
                <a:spcPct val="150000"/>
              </a:lnSpc>
              <a:spcBef>
                <a:spcPts val="0"/>
              </a:spcBef>
              <a:spcAft>
                <a:spcPts val="0"/>
              </a:spcAft>
              <a:buNone/>
            </a:pPr>
            <a:r>
              <a:rPr lang="en" sz="1300">
                <a:solidFill>
                  <a:schemeClr val="dk1"/>
                </a:solidFill>
                <a:latin typeface="Poppins SemiBold"/>
                <a:ea typeface="Poppins SemiBold"/>
                <a:cs typeface="Poppins SemiBold"/>
                <a:sym typeface="Poppins SemiBold"/>
              </a:rPr>
              <a:t>Pada tahun ajaran 2022/2023, tercatat sebanyak 76.737 siswa di Indonesia mengalami putus sekolah</a:t>
            </a:r>
            <a:r>
              <a:rPr lang="en" sz="1300">
                <a:solidFill>
                  <a:schemeClr val="dk1"/>
                </a:solidFill>
                <a:latin typeface="Poppins"/>
                <a:ea typeface="Poppins"/>
                <a:cs typeface="Poppins"/>
                <a:sym typeface="Poppins"/>
              </a:rPr>
              <a:t>. Angka ini menunjukkan bahwa isu putus sekolah masih menjadi tantangan besar dalam dunia pendidikan. Berbagai faktor seperti kondisi ekonomi, akses pendidikan yang terbatas, hingga faktor sosial dan budaya kemungkinan turut memengaruhi angka ini. Data ini menjadi pengingat bahwa upaya peningkatan akses dan kualitas pendidikan harus ditingkatkan.</a:t>
            </a:r>
            <a:endParaRPr sz="1300">
              <a:solidFill>
                <a:schemeClr val="dk1"/>
              </a:solidFill>
              <a:latin typeface="Poppins"/>
              <a:ea typeface="Poppins"/>
              <a:cs typeface="Poppins"/>
              <a:sym typeface="Poppins"/>
            </a:endParaRPr>
          </a:p>
        </p:txBody>
      </p:sp>
      <p:sp>
        <p:nvSpPr>
          <p:cNvPr id="81" name="Google Shape;81;p3"/>
          <p:cNvSpPr txBox="1"/>
          <p:nvPr>
            <p:ph idx="1" type="body"/>
          </p:nvPr>
        </p:nvSpPr>
        <p:spPr>
          <a:xfrm>
            <a:off x="149725" y="373875"/>
            <a:ext cx="8321700" cy="101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1008">
                <a:latin typeface="Poppins Light"/>
                <a:ea typeface="Poppins Light"/>
                <a:cs typeface="Poppins Light"/>
                <a:sym typeface="Poppins Light"/>
              </a:rPr>
              <a:t>Visualisasi #1</a:t>
            </a:r>
            <a:endParaRPr sz="1008">
              <a:latin typeface="Poppins Light"/>
              <a:ea typeface="Poppins Light"/>
              <a:cs typeface="Poppins Light"/>
              <a:sym typeface="Poppins Light"/>
            </a:endParaRPr>
          </a:p>
          <a:p>
            <a:pPr indent="0" lvl="0" marL="0" rtl="0" algn="l">
              <a:lnSpc>
                <a:spcPct val="100000"/>
              </a:lnSpc>
              <a:spcBef>
                <a:spcPts val="0"/>
              </a:spcBef>
              <a:spcAft>
                <a:spcPts val="0"/>
              </a:spcAft>
              <a:buSzPts val="1800"/>
              <a:buNone/>
            </a:pPr>
            <a:r>
              <a:rPr b="1" lang="en" sz="1600">
                <a:latin typeface="Poppins"/>
                <a:ea typeface="Poppins"/>
                <a:cs typeface="Poppins"/>
                <a:sym typeface="Poppins"/>
              </a:rPr>
              <a:t>Mengapa Masih Banyak Siswa Putus Sekolah di Indonesia?</a:t>
            </a:r>
            <a:endParaRPr b="1" sz="1600">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g3613ae639d0_0_3"/>
          <p:cNvPicPr preferRelativeResize="0"/>
          <p:nvPr/>
        </p:nvPicPr>
        <p:blipFill>
          <a:blip r:embed="rId3">
            <a:alphaModFix/>
          </a:blip>
          <a:stretch>
            <a:fillRect/>
          </a:stretch>
        </p:blipFill>
        <p:spPr>
          <a:xfrm>
            <a:off x="291425" y="1512011"/>
            <a:ext cx="3403650" cy="2790825"/>
          </a:xfrm>
          <a:prstGeom prst="rect">
            <a:avLst/>
          </a:prstGeom>
          <a:noFill/>
          <a:ln>
            <a:noFill/>
          </a:ln>
        </p:spPr>
      </p:pic>
      <p:sp>
        <p:nvSpPr>
          <p:cNvPr id="87" name="Google Shape;87;g3613ae639d0_0_3"/>
          <p:cNvSpPr txBox="1"/>
          <p:nvPr/>
        </p:nvSpPr>
        <p:spPr>
          <a:xfrm>
            <a:off x="3774325" y="1351425"/>
            <a:ext cx="5154000" cy="2951400"/>
          </a:xfrm>
          <a:prstGeom prst="rect">
            <a:avLst/>
          </a:prstGeom>
          <a:noFill/>
          <a:ln>
            <a:noFill/>
          </a:ln>
        </p:spPr>
        <p:txBody>
          <a:bodyPr anchorCtr="0" anchor="t" bIns="91425" lIns="91425" spcFirstLastPara="1" rIns="91425" wrap="square" tIns="91425">
            <a:noAutofit/>
          </a:bodyPr>
          <a:lstStyle/>
          <a:p>
            <a:pPr indent="457200" lvl="0" marL="0" rtl="0" algn="just">
              <a:lnSpc>
                <a:spcPct val="150000"/>
              </a:lnSpc>
              <a:spcBef>
                <a:spcPts val="0"/>
              </a:spcBef>
              <a:spcAft>
                <a:spcPts val="0"/>
              </a:spcAft>
              <a:buNone/>
            </a:pPr>
            <a:r>
              <a:rPr lang="en" sz="1300">
                <a:solidFill>
                  <a:schemeClr val="dk1"/>
                </a:solidFill>
                <a:latin typeface="Poppins"/>
                <a:ea typeface="Poppins"/>
                <a:cs typeface="Poppins"/>
                <a:sym typeface="Poppins"/>
              </a:rPr>
              <a:t>Fakta mencengangkan: </a:t>
            </a:r>
            <a:r>
              <a:rPr lang="en" sz="1300">
                <a:solidFill>
                  <a:schemeClr val="dk1"/>
                </a:solidFill>
                <a:latin typeface="Poppins SemiBold"/>
                <a:ea typeface="Poppins SemiBold"/>
                <a:cs typeface="Poppins SemiBold"/>
                <a:sym typeface="Poppins SemiBold"/>
              </a:rPr>
              <a:t>53% dari total kasus siswa putus sekolah di tahun ajaran 2022/2023 terjadi pada jenjang SD/Sederajat, yaitu sekitar 40.550 siswa</a:t>
            </a:r>
            <a:r>
              <a:rPr lang="en" sz="1300">
                <a:solidFill>
                  <a:schemeClr val="dk1"/>
                </a:solidFill>
                <a:latin typeface="Poppins"/>
                <a:ea typeface="Poppins"/>
                <a:cs typeface="Poppins"/>
                <a:sym typeface="Poppins"/>
              </a:rPr>
              <a:t>. Artinya, lebih dari separuh siswa yang berhenti sekolah belum sempat menyelesaikan pendidikan dasar.  Sementara itu, jenjang SMP menyumbang 18% (13.708 siswa), SMK 16% (12.404 siswa), dan SMA 13% (10.075 siswa). Angka ini menunjukkan bahwa tantangan pendidikan di Indonesia dimulai sejak usia dini, padahal mereka seharusnya baru memulai perjalanan pendidikan.</a:t>
            </a:r>
            <a:endParaRPr sz="1300">
              <a:solidFill>
                <a:schemeClr val="dk1"/>
              </a:solidFill>
              <a:latin typeface="Poppins"/>
              <a:ea typeface="Poppins"/>
              <a:cs typeface="Poppins"/>
              <a:sym typeface="Poppins"/>
            </a:endParaRPr>
          </a:p>
        </p:txBody>
      </p:sp>
      <p:sp>
        <p:nvSpPr>
          <p:cNvPr id="88" name="Google Shape;88;g3613ae639d0_0_3"/>
          <p:cNvSpPr txBox="1"/>
          <p:nvPr>
            <p:ph idx="1" type="body"/>
          </p:nvPr>
        </p:nvSpPr>
        <p:spPr>
          <a:xfrm>
            <a:off x="149725" y="373875"/>
            <a:ext cx="8321700" cy="101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1008">
                <a:latin typeface="Poppins Light"/>
                <a:ea typeface="Poppins Light"/>
                <a:cs typeface="Poppins Light"/>
                <a:sym typeface="Poppins Light"/>
              </a:rPr>
              <a:t>Visualisasi #2</a:t>
            </a:r>
            <a:endParaRPr sz="1008">
              <a:latin typeface="Poppins Light"/>
              <a:ea typeface="Poppins Light"/>
              <a:cs typeface="Poppins Light"/>
              <a:sym typeface="Poppins Light"/>
            </a:endParaRPr>
          </a:p>
          <a:p>
            <a:pPr indent="0" lvl="0" marL="0" rtl="0" algn="l">
              <a:lnSpc>
                <a:spcPct val="100000"/>
              </a:lnSpc>
              <a:spcBef>
                <a:spcPts val="0"/>
              </a:spcBef>
              <a:spcAft>
                <a:spcPts val="0"/>
              </a:spcAft>
              <a:buSzPts val="1800"/>
              <a:buNone/>
            </a:pPr>
            <a:r>
              <a:rPr b="1" lang="en" sz="1600">
                <a:latin typeface="Poppins"/>
                <a:ea typeface="Poppins"/>
                <a:cs typeface="Poppins"/>
                <a:sym typeface="Poppins"/>
              </a:rPr>
              <a:t>Mayoritas Siswa Putus Sekolah Belum Lulus SD</a:t>
            </a:r>
            <a:endParaRPr b="1" sz="1600">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3613ae639d0_0_10"/>
          <p:cNvSpPr txBox="1"/>
          <p:nvPr>
            <p:ph idx="1" type="body"/>
          </p:nvPr>
        </p:nvSpPr>
        <p:spPr>
          <a:xfrm>
            <a:off x="149725" y="373875"/>
            <a:ext cx="8321700" cy="101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1008">
                <a:latin typeface="Poppins Light"/>
                <a:ea typeface="Poppins Light"/>
                <a:cs typeface="Poppins Light"/>
                <a:sym typeface="Poppins Light"/>
              </a:rPr>
              <a:t>Visualisasi #3</a:t>
            </a:r>
            <a:endParaRPr sz="1008">
              <a:latin typeface="Poppins Light"/>
              <a:ea typeface="Poppins Light"/>
              <a:cs typeface="Poppins Light"/>
              <a:sym typeface="Poppins Light"/>
            </a:endParaRPr>
          </a:p>
          <a:p>
            <a:pPr indent="0" lvl="0" marL="0" rtl="0" algn="l">
              <a:lnSpc>
                <a:spcPct val="100000"/>
              </a:lnSpc>
              <a:spcBef>
                <a:spcPts val="0"/>
              </a:spcBef>
              <a:spcAft>
                <a:spcPts val="0"/>
              </a:spcAft>
              <a:buSzPts val="1800"/>
              <a:buNone/>
            </a:pPr>
            <a:r>
              <a:rPr b="1" lang="en" sz="1600">
                <a:latin typeface="Poppins"/>
                <a:ea typeface="Poppins"/>
                <a:cs typeface="Poppins"/>
                <a:sym typeface="Poppins"/>
              </a:rPr>
              <a:t>Sumatera Utara Mencatat Jumlah Putus Sekolah Tertinggi di Indonesia</a:t>
            </a:r>
            <a:endParaRPr b="1" sz="1600">
              <a:latin typeface="Poppins"/>
              <a:ea typeface="Poppins"/>
              <a:cs typeface="Poppins"/>
              <a:sym typeface="Poppins"/>
            </a:endParaRPr>
          </a:p>
        </p:txBody>
      </p:sp>
      <p:pic>
        <p:nvPicPr>
          <p:cNvPr id="94" name="Google Shape;94;g3613ae639d0_0_10"/>
          <p:cNvPicPr preferRelativeResize="0"/>
          <p:nvPr/>
        </p:nvPicPr>
        <p:blipFill>
          <a:blip r:embed="rId3">
            <a:alphaModFix/>
          </a:blip>
          <a:stretch>
            <a:fillRect/>
          </a:stretch>
        </p:blipFill>
        <p:spPr>
          <a:xfrm>
            <a:off x="238650" y="950125"/>
            <a:ext cx="5366600" cy="2142650"/>
          </a:xfrm>
          <a:prstGeom prst="rect">
            <a:avLst/>
          </a:prstGeom>
          <a:noFill/>
          <a:ln>
            <a:noFill/>
          </a:ln>
        </p:spPr>
      </p:pic>
      <p:sp>
        <p:nvSpPr>
          <p:cNvPr id="95" name="Google Shape;95;g3613ae639d0_0_10"/>
          <p:cNvSpPr txBox="1"/>
          <p:nvPr/>
        </p:nvSpPr>
        <p:spPr>
          <a:xfrm>
            <a:off x="238650" y="3092775"/>
            <a:ext cx="8547000" cy="1615200"/>
          </a:xfrm>
          <a:prstGeom prst="rect">
            <a:avLst/>
          </a:prstGeom>
          <a:noFill/>
          <a:ln>
            <a:noFill/>
          </a:ln>
        </p:spPr>
        <p:txBody>
          <a:bodyPr anchorCtr="0" anchor="t" bIns="91425" lIns="91425" spcFirstLastPara="1" rIns="91425" wrap="square" tIns="91425">
            <a:noAutofit/>
          </a:bodyPr>
          <a:lstStyle/>
          <a:p>
            <a:pPr indent="457200" lvl="0" marL="0" rtl="0" algn="just">
              <a:lnSpc>
                <a:spcPct val="150000"/>
              </a:lnSpc>
              <a:spcBef>
                <a:spcPts val="0"/>
              </a:spcBef>
              <a:spcAft>
                <a:spcPts val="0"/>
              </a:spcAft>
              <a:buNone/>
            </a:pPr>
            <a:r>
              <a:rPr lang="en" sz="1300">
                <a:solidFill>
                  <a:schemeClr val="dk1"/>
                </a:solidFill>
                <a:latin typeface="Poppins"/>
                <a:ea typeface="Poppins"/>
                <a:cs typeface="Poppins"/>
                <a:sym typeface="Poppins"/>
              </a:rPr>
              <a:t>Data menunjukkan bahwa </a:t>
            </a:r>
            <a:r>
              <a:rPr lang="en" sz="1300">
                <a:solidFill>
                  <a:schemeClr val="dk1"/>
                </a:solidFill>
                <a:latin typeface="Poppins SemiBold"/>
                <a:ea typeface="Poppins SemiBold"/>
                <a:cs typeface="Poppins SemiBold"/>
                <a:sym typeface="Poppins SemiBold"/>
              </a:rPr>
              <a:t>Sumatera Utara menjadi provinsi dengan jumlah putus sekolah tertinggi di Indonesia, mencapai 8.979 siswa</a:t>
            </a:r>
            <a:r>
              <a:rPr lang="en" sz="1300">
                <a:solidFill>
                  <a:schemeClr val="dk1"/>
                </a:solidFill>
                <a:latin typeface="Poppins"/>
                <a:ea typeface="Poppins"/>
                <a:cs typeface="Poppins"/>
                <a:sym typeface="Poppins"/>
              </a:rPr>
              <a:t>. Disusul oleh Jawa Barat (8.772 siswa) dan Jawa Timur (6.933 siswa). Fakta ini cukup mencengangkan karena daerah-daerah tersebut merupakan wilayah-wilayah dengan populasi besar dan fasilitas pendidikan yang relatif lengkap. Namun, tingginya angka putus sekolah mengindikasikan adanya tantangan serius dalam hal akses, kualitas, maupun keberlanjutan pendidikan di daerah-daerah tersebut.</a:t>
            </a:r>
            <a:endParaRPr sz="1300">
              <a:solidFill>
                <a:schemeClr val="dk1"/>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g3613ae639d0_0_21"/>
          <p:cNvPicPr preferRelativeResize="0"/>
          <p:nvPr/>
        </p:nvPicPr>
        <p:blipFill>
          <a:blip r:embed="rId3">
            <a:alphaModFix/>
          </a:blip>
          <a:stretch>
            <a:fillRect/>
          </a:stretch>
        </p:blipFill>
        <p:spPr>
          <a:xfrm>
            <a:off x="229350" y="988550"/>
            <a:ext cx="5215075" cy="2139700"/>
          </a:xfrm>
          <a:prstGeom prst="rect">
            <a:avLst/>
          </a:prstGeom>
          <a:noFill/>
          <a:ln>
            <a:noFill/>
          </a:ln>
        </p:spPr>
      </p:pic>
      <p:sp>
        <p:nvSpPr>
          <p:cNvPr id="101" name="Google Shape;101;g3613ae639d0_0_21"/>
          <p:cNvSpPr txBox="1"/>
          <p:nvPr/>
        </p:nvSpPr>
        <p:spPr>
          <a:xfrm>
            <a:off x="229350" y="3289600"/>
            <a:ext cx="8666700" cy="1676400"/>
          </a:xfrm>
          <a:prstGeom prst="rect">
            <a:avLst/>
          </a:prstGeom>
          <a:noFill/>
          <a:ln>
            <a:noFill/>
          </a:ln>
        </p:spPr>
        <p:txBody>
          <a:bodyPr anchorCtr="0" anchor="t" bIns="91425" lIns="91425" spcFirstLastPara="1" rIns="91425" wrap="square" tIns="91425">
            <a:noAutofit/>
          </a:bodyPr>
          <a:lstStyle/>
          <a:p>
            <a:pPr indent="457200" lvl="0" marL="0" rtl="0" algn="just">
              <a:lnSpc>
                <a:spcPct val="150000"/>
              </a:lnSpc>
              <a:spcBef>
                <a:spcPts val="0"/>
              </a:spcBef>
              <a:spcAft>
                <a:spcPts val="0"/>
              </a:spcAft>
              <a:buNone/>
            </a:pPr>
            <a:r>
              <a:rPr lang="en" sz="1300">
                <a:solidFill>
                  <a:schemeClr val="dk1"/>
                </a:solidFill>
                <a:latin typeface="Poppins SemiBold"/>
                <a:ea typeface="Poppins SemiBold"/>
                <a:cs typeface="Poppins SemiBold"/>
                <a:sym typeface="Poppins SemiBold"/>
              </a:rPr>
              <a:t>Daerah Istimewa Yogyakarta mencatat angka putus sekolah terendah secara nasional hanya 138 siswa</a:t>
            </a:r>
            <a:r>
              <a:rPr lang="en" sz="1300">
                <a:solidFill>
                  <a:schemeClr val="dk1"/>
                </a:solidFill>
                <a:latin typeface="Poppins"/>
                <a:ea typeface="Poppins"/>
                <a:cs typeface="Poppins"/>
                <a:sym typeface="Poppins"/>
              </a:rPr>
              <a:t>. Disusul Kalimantan Utara, Bali, dan Kepulauan Bangka Belitung. Rendahnya angka ini bisa dipengaruhi oleh akses pendidikan yang merata, perhatian pemerintah daerah terhadap sektor pendidikan, serta kesadaran tinggi masyarakat akan pentingnya pendidikan.</a:t>
            </a:r>
            <a:endParaRPr sz="1300">
              <a:solidFill>
                <a:schemeClr val="dk1"/>
              </a:solidFill>
              <a:latin typeface="Poppins"/>
              <a:ea typeface="Poppins"/>
              <a:cs typeface="Poppins"/>
              <a:sym typeface="Poppins"/>
            </a:endParaRPr>
          </a:p>
        </p:txBody>
      </p:sp>
      <p:sp>
        <p:nvSpPr>
          <p:cNvPr id="102" name="Google Shape;102;g3613ae639d0_0_21"/>
          <p:cNvSpPr txBox="1"/>
          <p:nvPr>
            <p:ph idx="1" type="body"/>
          </p:nvPr>
        </p:nvSpPr>
        <p:spPr>
          <a:xfrm>
            <a:off x="149725" y="373875"/>
            <a:ext cx="8321700" cy="101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1008">
                <a:latin typeface="Poppins Light"/>
                <a:ea typeface="Poppins Light"/>
                <a:cs typeface="Poppins Light"/>
                <a:sym typeface="Poppins Light"/>
              </a:rPr>
              <a:t>Visualisasi #4</a:t>
            </a:r>
            <a:endParaRPr sz="1008">
              <a:latin typeface="Poppins Light"/>
              <a:ea typeface="Poppins Light"/>
              <a:cs typeface="Poppins Light"/>
              <a:sym typeface="Poppins Light"/>
            </a:endParaRPr>
          </a:p>
          <a:p>
            <a:pPr indent="0" lvl="0" marL="0" rtl="0" algn="l">
              <a:lnSpc>
                <a:spcPct val="100000"/>
              </a:lnSpc>
              <a:spcBef>
                <a:spcPts val="0"/>
              </a:spcBef>
              <a:spcAft>
                <a:spcPts val="0"/>
              </a:spcAft>
              <a:buSzPts val="1800"/>
              <a:buNone/>
            </a:pPr>
            <a:r>
              <a:rPr b="1" lang="en" sz="1600">
                <a:latin typeface="Poppins"/>
                <a:ea typeface="Poppins"/>
                <a:cs typeface="Poppins"/>
                <a:sym typeface="Poppins"/>
              </a:rPr>
              <a:t>Yogyakarta Mencatat Angka Putus Sekolah Terendah</a:t>
            </a:r>
            <a:endParaRPr b="1" sz="1600">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g3613ae639d0_0_28"/>
          <p:cNvPicPr preferRelativeResize="0"/>
          <p:nvPr/>
        </p:nvPicPr>
        <p:blipFill>
          <a:blip r:embed="rId3">
            <a:alphaModFix/>
          </a:blip>
          <a:stretch>
            <a:fillRect/>
          </a:stretch>
        </p:blipFill>
        <p:spPr>
          <a:xfrm>
            <a:off x="229350" y="984025"/>
            <a:ext cx="5213326" cy="2116125"/>
          </a:xfrm>
          <a:prstGeom prst="rect">
            <a:avLst/>
          </a:prstGeom>
          <a:noFill/>
          <a:ln>
            <a:noFill/>
          </a:ln>
        </p:spPr>
      </p:pic>
      <p:sp>
        <p:nvSpPr>
          <p:cNvPr id="108" name="Google Shape;108;g3613ae639d0_0_28"/>
          <p:cNvSpPr txBox="1"/>
          <p:nvPr/>
        </p:nvSpPr>
        <p:spPr>
          <a:xfrm>
            <a:off x="238650" y="3232900"/>
            <a:ext cx="8666700" cy="1676400"/>
          </a:xfrm>
          <a:prstGeom prst="rect">
            <a:avLst/>
          </a:prstGeom>
          <a:noFill/>
          <a:ln>
            <a:noFill/>
          </a:ln>
        </p:spPr>
        <p:txBody>
          <a:bodyPr anchorCtr="0" anchor="t" bIns="91425" lIns="91425" spcFirstLastPara="1" rIns="91425" wrap="square" tIns="91425">
            <a:noAutofit/>
          </a:bodyPr>
          <a:lstStyle/>
          <a:p>
            <a:pPr indent="457200" lvl="0" marL="0" rtl="0" algn="just">
              <a:lnSpc>
                <a:spcPct val="150000"/>
              </a:lnSpc>
              <a:spcBef>
                <a:spcPts val="0"/>
              </a:spcBef>
              <a:spcAft>
                <a:spcPts val="0"/>
              </a:spcAft>
              <a:buNone/>
            </a:pPr>
            <a:r>
              <a:rPr lang="en" sz="1300">
                <a:solidFill>
                  <a:schemeClr val="dk1"/>
                </a:solidFill>
                <a:latin typeface="Poppins SemiBold"/>
                <a:ea typeface="Poppins SemiBold"/>
                <a:cs typeface="Poppins SemiBold"/>
                <a:sym typeface="Poppins SemiBold"/>
              </a:rPr>
              <a:t>Kabupaten Sumba Timur mencatat kasus putus sekolah terbanyak di Indonesia dengan 1.441 siswa</a:t>
            </a:r>
            <a:r>
              <a:rPr lang="en" sz="1300">
                <a:solidFill>
                  <a:schemeClr val="dk1"/>
                </a:solidFill>
                <a:latin typeface="Poppins"/>
                <a:ea typeface="Poppins"/>
                <a:cs typeface="Poppins"/>
                <a:sym typeface="Poppins"/>
              </a:rPr>
              <a:t>, disusul oleh Kabupaten Bogor dan Kota Medan. Kondisi ini mencerminkan kemungkinan tantangan seperti kesenjangan ekonomi, akses pendidikan yang terbatas, atau tingkat urbanisasi yang tinggi yang memaksa siswa bekerja sejak dini. Fenomena ini menunjukkan bahwa masalah pendidikan tidak hanya terjadi di daerah terpencil, tapi juga di kawasan padat penduduk.</a:t>
            </a:r>
            <a:endParaRPr sz="1300">
              <a:solidFill>
                <a:schemeClr val="dk1"/>
              </a:solidFill>
              <a:latin typeface="Poppins"/>
              <a:ea typeface="Poppins"/>
              <a:cs typeface="Poppins"/>
              <a:sym typeface="Poppins"/>
            </a:endParaRPr>
          </a:p>
        </p:txBody>
      </p:sp>
      <p:sp>
        <p:nvSpPr>
          <p:cNvPr id="109" name="Google Shape;109;g3613ae639d0_0_28"/>
          <p:cNvSpPr txBox="1"/>
          <p:nvPr>
            <p:ph idx="1" type="body"/>
          </p:nvPr>
        </p:nvSpPr>
        <p:spPr>
          <a:xfrm>
            <a:off x="149725" y="373875"/>
            <a:ext cx="8321700" cy="101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1008">
                <a:latin typeface="Poppins Light"/>
                <a:ea typeface="Poppins Light"/>
                <a:cs typeface="Poppins Light"/>
                <a:sym typeface="Poppins Light"/>
              </a:rPr>
              <a:t>Visualisasi #5</a:t>
            </a:r>
            <a:endParaRPr sz="1008">
              <a:latin typeface="Poppins Light"/>
              <a:ea typeface="Poppins Light"/>
              <a:cs typeface="Poppins Light"/>
              <a:sym typeface="Poppins Light"/>
            </a:endParaRPr>
          </a:p>
          <a:p>
            <a:pPr indent="0" lvl="0" marL="0" rtl="0" algn="l">
              <a:lnSpc>
                <a:spcPct val="100000"/>
              </a:lnSpc>
              <a:spcBef>
                <a:spcPts val="0"/>
              </a:spcBef>
              <a:spcAft>
                <a:spcPts val="0"/>
              </a:spcAft>
              <a:buSzPts val="1800"/>
              <a:buNone/>
            </a:pPr>
            <a:r>
              <a:rPr b="1" lang="en" sz="1600">
                <a:latin typeface="Poppins"/>
                <a:ea typeface="Poppins"/>
                <a:cs typeface="Poppins"/>
                <a:sym typeface="Poppins"/>
              </a:rPr>
              <a:t>Kab. Sumba Timur dan Kab. Bogor Pimpin Daftar Putus Sekolah Tertinggi</a:t>
            </a:r>
            <a:endParaRPr b="1" sz="1600">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6030500d69_0_1"/>
          <p:cNvSpPr txBox="1"/>
          <p:nvPr>
            <p:ph type="title"/>
          </p:nvPr>
        </p:nvSpPr>
        <p:spPr>
          <a:xfrm>
            <a:off x="830100" y="2150850"/>
            <a:ext cx="7483800" cy="84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t/>
            </a:r>
            <a:endParaRPr sz="1800"/>
          </a:p>
          <a:p>
            <a:pPr indent="0" lvl="0" marL="0" rtl="0" algn="ctr">
              <a:spcBef>
                <a:spcPts val="0"/>
              </a:spcBef>
              <a:spcAft>
                <a:spcPts val="0"/>
              </a:spcAft>
              <a:buClr>
                <a:schemeClr val="dk1"/>
              </a:buClr>
              <a:buSzPts val="990"/>
              <a:buFont typeface="Arial"/>
              <a:buNone/>
            </a:pPr>
            <a:r>
              <a:rPr b="0" lang="en" sz="1800"/>
              <a:t>“Data ini bukan sekedar angka. Di balik setiap satu anak yang putus sekolah, ada mimpi yang tertunda, ada masa depan yang terganggu.” </a:t>
            </a:r>
            <a:endParaRPr b="0" sz="1800"/>
          </a:p>
          <a:p>
            <a:pPr indent="0" lvl="0" marL="0" rtl="0" algn="ctr">
              <a:spcBef>
                <a:spcPts val="0"/>
              </a:spcBef>
              <a:spcAft>
                <a:spcPts val="0"/>
              </a:spcAft>
              <a:buSzPts val="990"/>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616128bc79_0_11"/>
          <p:cNvSpPr txBox="1"/>
          <p:nvPr>
            <p:ph idx="2" type="body"/>
          </p:nvPr>
        </p:nvSpPr>
        <p:spPr>
          <a:xfrm>
            <a:off x="3972000" y="724075"/>
            <a:ext cx="4804500" cy="3695100"/>
          </a:xfrm>
          <a:prstGeom prst="rect">
            <a:avLst/>
          </a:prstGeom>
        </p:spPr>
        <p:txBody>
          <a:bodyPr anchorCtr="0" anchor="ctr" bIns="91425" lIns="91425" spcFirstLastPara="1" rIns="91425" wrap="square" tIns="91425">
            <a:normAutofit/>
          </a:bodyPr>
          <a:lstStyle/>
          <a:p>
            <a:pPr indent="-311150" lvl="0" marL="457200" rtl="0" algn="just">
              <a:spcBef>
                <a:spcPts val="0"/>
              </a:spcBef>
              <a:spcAft>
                <a:spcPts val="0"/>
              </a:spcAft>
              <a:buSzPts val="1300"/>
              <a:buAutoNum type="arabicPeriod"/>
            </a:pPr>
            <a:r>
              <a:rPr lang="en" sz="1300"/>
              <a:t>Mayoritas siswa putus sekolah terjadi di jenjang SD (53%), yaitu sekitar 40.550 siswa. Menunjukkan masalah terjadi sejak usia dini.</a:t>
            </a:r>
            <a:endParaRPr sz="1300"/>
          </a:p>
          <a:p>
            <a:pPr indent="-311150" lvl="0" marL="457200" rtl="0" algn="just">
              <a:spcBef>
                <a:spcPts val="0"/>
              </a:spcBef>
              <a:spcAft>
                <a:spcPts val="0"/>
              </a:spcAft>
              <a:buSzPts val="1300"/>
              <a:buAutoNum type="arabicPeriod"/>
            </a:pPr>
            <a:r>
              <a:rPr lang="en" sz="1300"/>
              <a:t>Provinsi Sumatera Utara menjadi Provinsi dengan jumlah siswa putus sekolah tertinggi, diikuti Jawa Barat dan Jawa Timur.</a:t>
            </a:r>
            <a:endParaRPr sz="1300"/>
          </a:p>
          <a:p>
            <a:pPr indent="-311150" lvl="0" marL="457200" rtl="0" algn="just">
              <a:spcBef>
                <a:spcPts val="0"/>
              </a:spcBef>
              <a:spcAft>
                <a:spcPts val="0"/>
              </a:spcAft>
              <a:buSzPts val="1300"/>
              <a:buAutoNum type="arabicPeriod"/>
            </a:pPr>
            <a:r>
              <a:rPr lang="en" sz="1300"/>
              <a:t>Kabupaten Sumba Timur dan Kabupaten Bogor mencatat angka tertinggi secara nasional.</a:t>
            </a:r>
            <a:endParaRPr sz="1300"/>
          </a:p>
          <a:p>
            <a:pPr indent="-311150" lvl="0" marL="457200" rtl="0" algn="just">
              <a:spcBef>
                <a:spcPts val="0"/>
              </a:spcBef>
              <a:spcAft>
                <a:spcPts val="0"/>
              </a:spcAft>
              <a:buSzPts val="1300"/>
              <a:buAutoNum type="arabicPeriod"/>
            </a:pPr>
            <a:r>
              <a:rPr lang="en" sz="1300"/>
              <a:t>Beberapa daerah maju pun masih memiliki angka tinggi, menandakan masalah tidak hanya terjadi di daerah tertinggal.</a:t>
            </a:r>
            <a:endParaRPr sz="1300"/>
          </a:p>
          <a:p>
            <a:pPr indent="-311150" lvl="0" marL="457200" rtl="0" algn="just">
              <a:spcBef>
                <a:spcPts val="0"/>
              </a:spcBef>
              <a:spcAft>
                <a:spcPts val="0"/>
              </a:spcAft>
              <a:buSzPts val="1300"/>
              <a:buAutoNum type="arabicPeriod"/>
            </a:pPr>
            <a:r>
              <a:rPr lang="en" sz="1300"/>
              <a:t>Ketimpangan antar daerah masih terlihat jelas, baik dari segi jumlah maupun jenjang pendidikan.</a:t>
            </a:r>
            <a:endParaRPr sz="1300"/>
          </a:p>
        </p:txBody>
      </p:sp>
      <p:sp>
        <p:nvSpPr>
          <p:cNvPr id="120" name="Google Shape;120;g3616128bc79_0_11"/>
          <p:cNvSpPr txBox="1"/>
          <p:nvPr>
            <p:ph type="title"/>
          </p:nvPr>
        </p:nvSpPr>
        <p:spPr>
          <a:xfrm>
            <a:off x="98375" y="1425175"/>
            <a:ext cx="3250800" cy="1482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400"/>
              <a:t>Temuan Utama dari Data Ini</a:t>
            </a:r>
            <a:endParaRPr sz="1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613ae639d0_0_35"/>
          <p:cNvSpPr txBox="1"/>
          <p:nvPr>
            <p:ph idx="2" type="body"/>
          </p:nvPr>
        </p:nvSpPr>
        <p:spPr>
          <a:xfrm>
            <a:off x="3972000" y="724075"/>
            <a:ext cx="4804500" cy="3695100"/>
          </a:xfrm>
          <a:prstGeom prst="rect">
            <a:avLst/>
          </a:prstGeom>
        </p:spPr>
        <p:txBody>
          <a:bodyPr anchorCtr="0" anchor="ctr" bIns="91425" lIns="91425" spcFirstLastPara="1" rIns="91425" wrap="square" tIns="91425">
            <a:normAutofit/>
          </a:bodyPr>
          <a:lstStyle/>
          <a:p>
            <a:pPr indent="-311150" lvl="0" marL="457200" rtl="0" algn="just">
              <a:lnSpc>
                <a:spcPct val="115000"/>
              </a:lnSpc>
              <a:spcBef>
                <a:spcPts val="0"/>
              </a:spcBef>
              <a:spcAft>
                <a:spcPts val="0"/>
              </a:spcAft>
              <a:buSzPts val="1300"/>
              <a:buChar char="●"/>
            </a:pPr>
            <a:r>
              <a:rPr lang="en" sz="1300"/>
              <a:t>Faktor ekonomi (kemiskinan, siswa harus bekerja).</a:t>
            </a:r>
            <a:endParaRPr sz="1300"/>
          </a:p>
          <a:p>
            <a:pPr indent="-311150" lvl="0" marL="457200" rtl="0" algn="just">
              <a:lnSpc>
                <a:spcPct val="115000"/>
              </a:lnSpc>
              <a:spcBef>
                <a:spcPts val="0"/>
              </a:spcBef>
              <a:spcAft>
                <a:spcPts val="0"/>
              </a:spcAft>
              <a:buSzPts val="1300"/>
              <a:buChar char="●"/>
            </a:pPr>
            <a:r>
              <a:rPr lang="en" sz="1300"/>
              <a:t>Faktor sosial (pernikahan dini, konflik keluarga).</a:t>
            </a:r>
            <a:endParaRPr sz="1300"/>
          </a:p>
          <a:p>
            <a:pPr indent="-311150" lvl="0" marL="457200" rtl="0" algn="just">
              <a:lnSpc>
                <a:spcPct val="115000"/>
              </a:lnSpc>
              <a:spcBef>
                <a:spcPts val="0"/>
              </a:spcBef>
              <a:spcAft>
                <a:spcPts val="0"/>
              </a:spcAft>
              <a:buSzPts val="1300"/>
              <a:buChar char="●"/>
            </a:pPr>
            <a:r>
              <a:rPr lang="en" sz="1300"/>
              <a:t>Faktor geografis (akses sekolah sulit dijangkau).</a:t>
            </a:r>
            <a:endParaRPr sz="1300"/>
          </a:p>
          <a:p>
            <a:pPr indent="-311150" lvl="0" marL="457200" rtl="0" algn="just">
              <a:lnSpc>
                <a:spcPct val="115000"/>
              </a:lnSpc>
              <a:spcBef>
                <a:spcPts val="0"/>
              </a:spcBef>
              <a:spcAft>
                <a:spcPts val="0"/>
              </a:spcAft>
              <a:buSzPts val="1300"/>
              <a:buChar char="●"/>
            </a:pPr>
            <a:r>
              <a:rPr lang="en" sz="1300"/>
              <a:t>Faktor budaya (nilai tradisional yang kurang menghargai pendidikan).</a:t>
            </a:r>
            <a:endParaRPr sz="1300"/>
          </a:p>
          <a:p>
            <a:pPr indent="-311150" lvl="0" marL="457200" rtl="0" algn="just">
              <a:lnSpc>
                <a:spcPct val="115000"/>
              </a:lnSpc>
              <a:spcBef>
                <a:spcPts val="0"/>
              </a:spcBef>
              <a:spcAft>
                <a:spcPts val="0"/>
              </a:spcAft>
              <a:buSzPts val="1300"/>
              <a:buChar char="●"/>
            </a:pPr>
            <a:r>
              <a:rPr lang="en" sz="1300"/>
              <a:t>Lingkungan sekolah (bullying, fasilitas kurang memadai, kualitas pengajaran rendah).</a:t>
            </a:r>
            <a:endParaRPr sz="1300"/>
          </a:p>
        </p:txBody>
      </p:sp>
      <p:sp>
        <p:nvSpPr>
          <p:cNvPr id="126" name="Google Shape;126;g3613ae639d0_0_35"/>
          <p:cNvSpPr txBox="1"/>
          <p:nvPr>
            <p:ph type="title"/>
          </p:nvPr>
        </p:nvSpPr>
        <p:spPr>
          <a:xfrm>
            <a:off x="98375" y="1425175"/>
            <a:ext cx="3250800" cy="1482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400"/>
              <a:t>Di Balik Keputusan Berhenti Sekolah</a:t>
            </a:r>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616128bc79_0_6"/>
          <p:cNvSpPr txBox="1"/>
          <p:nvPr>
            <p:ph idx="2" type="body"/>
          </p:nvPr>
        </p:nvSpPr>
        <p:spPr>
          <a:xfrm>
            <a:off x="3972000" y="724075"/>
            <a:ext cx="4804500" cy="3695100"/>
          </a:xfrm>
          <a:prstGeom prst="rect">
            <a:avLst/>
          </a:prstGeom>
        </p:spPr>
        <p:txBody>
          <a:bodyPr anchorCtr="0" anchor="ctr" bIns="91425" lIns="91425" spcFirstLastPara="1" rIns="91425" wrap="square" tIns="91425">
            <a:normAutofit/>
          </a:bodyPr>
          <a:lstStyle/>
          <a:p>
            <a:pPr indent="-311150" lvl="0" marL="457200" rtl="0" algn="just">
              <a:spcBef>
                <a:spcPts val="0"/>
              </a:spcBef>
              <a:spcAft>
                <a:spcPts val="0"/>
              </a:spcAft>
              <a:buSzPts val="1300"/>
              <a:buChar char="●"/>
            </a:pPr>
            <a:r>
              <a:rPr lang="en" sz="1300"/>
              <a:t>Meningkatnya angka pengangguran</a:t>
            </a:r>
            <a:endParaRPr sz="1300"/>
          </a:p>
          <a:p>
            <a:pPr indent="-311150" lvl="0" marL="457200" rtl="0" algn="just">
              <a:spcBef>
                <a:spcPts val="0"/>
              </a:spcBef>
              <a:spcAft>
                <a:spcPts val="0"/>
              </a:spcAft>
              <a:buSzPts val="1300"/>
              <a:buChar char="●"/>
            </a:pPr>
            <a:r>
              <a:rPr lang="en" sz="1300"/>
              <a:t>Siklus kemiskinan terus berlanjut</a:t>
            </a:r>
            <a:endParaRPr sz="1300"/>
          </a:p>
          <a:p>
            <a:pPr indent="-311150" lvl="0" marL="457200" rtl="0" algn="just">
              <a:spcBef>
                <a:spcPts val="0"/>
              </a:spcBef>
              <a:spcAft>
                <a:spcPts val="0"/>
              </a:spcAft>
              <a:buSzPts val="1300"/>
              <a:buChar char="●"/>
            </a:pPr>
            <a:r>
              <a:rPr lang="en" sz="1300"/>
              <a:t>Rentan terhadap eksploitasi anak</a:t>
            </a:r>
            <a:endParaRPr sz="1300"/>
          </a:p>
          <a:p>
            <a:pPr indent="-311150" lvl="0" marL="457200" rtl="0" algn="just">
              <a:spcBef>
                <a:spcPts val="0"/>
              </a:spcBef>
              <a:spcAft>
                <a:spcPts val="0"/>
              </a:spcAft>
              <a:buSzPts val="1300"/>
              <a:buChar char="●"/>
            </a:pPr>
            <a:r>
              <a:rPr lang="en" sz="1300"/>
              <a:t>Minimnya partisipasi dalam pembangunan</a:t>
            </a:r>
            <a:endParaRPr sz="1300"/>
          </a:p>
          <a:p>
            <a:pPr indent="-311150" lvl="0" marL="457200" rtl="0" algn="just">
              <a:spcBef>
                <a:spcPts val="0"/>
              </a:spcBef>
              <a:spcAft>
                <a:spcPts val="0"/>
              </a:spcAft>
              <a:buSzPts val="1300"/>
              <a:buChar char="●"/>
            </a:pPr>
            <a:r>
              <a:rPr lang="en" sz="1300"/>
              <a:t>Rendahnya kualitas SDM di masa depan</a:t>
            </a:r>
            <a:endParaRPr sz="1300"/>
          </a:p>
        </p:txBody>
      </p:sp>
      <p:sp>
        <p:nvSpPr>
          <p:cNvPr id="132" name="Google Shape;132;g3616128bc79_0_6"/>
          <p:cNvSpPr txBox="1"/>
          <p:nvPr>
            <p:ph type="title"/>
          </p:nvPr>
        </p:nvSpPr>
        <p:spPr>
          <a:xfrm>
            <a:off x="98375" y="1425175"/>
            <a:ext cx="3250800" cy="1482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400"/>
              <a:t>Dampak Nyata Saat Anak Berhenti Sekolah</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6030500d69_0_6"/>
          <p:cNvSpPr txBox="1"/>
          <p:nvPr>
            <p:ph type="title"/>
          </p:nvPr>
        </p:nvSpPr>
        <p:spPr>
          <a:xfrm>
            <a:off x="901350" y="1846850"/>
            <a:ext cx="73413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a:p>
            <a:pPr indent="0" lvl="0" marL="0" rtl="0" algn="ctr">
              <a:spcBef>
                <a:spcPts val="0"/>
              </a:spcBef>
              <a:spcAft>
                <a:spcPts val="0"/>
              </a:spcAft>
              <a:buNone/>
            </a:pPr>
            <a:r>
              <a:rPr b="0" lang="en" sz="1800"/>
              <a:t>“Kita telah melihat gambaran besar dan rincian kecil dari fenomena putus sekolah. Mari kita lihat langkah-langkah yang bisa diambil untuk mengatasi masalah ini secara bersama-sama.” </a:t>
            </a:r>
            <a:endParaRPr b="0" sz="1800"/>
          </a:p>
          <a:p>
            <a:pPr indent="0" lvl="0" marL="0" rtl="0" algn="ctr">
              <a:spcBef>
                <a:spcPts val="0"/>
              </a:spcBef>
              <a:spcAft>
                <a:spcPts val="0"/>
              </a:spcAft>
              <a:buNone/>
            </a:pPr>
            <a:r>
              <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616128bc79_0_16"/>
          <p:cNvSpPr txBox="1"/>
          <p:nvPr>
            <p:ph idx="2" type="body"/>
          </p:nvPr>
        </p:nvSpPr>
        <p:spPr>
          <a:xfrm>
            <a:off x="3972000" y="724075"/>
            <a:ext cx="4804500" cy="3695100"/>
          </a:xfrm>
          <a:prstGeom prst="rect">
            <a:avLst/>
          </a:prstGeom>
        </p:spPr>
        <p:txBody>
          <a:bodyPr anchorCtr="0" anchor="ctr" bIns="91425" lIns="91425" spcFirstLastPara="1" rIns="91425" wrap="square" tIns="91425">
            <a:normAutofit/>
          </a:bodyPr>
          <a:lstStyle/>
          <a:p>
            <a:pPr indent="-311150" lvl="0" marL="457200" rtl="0" algn="just">
              <a:spcBef>
                <a:spcPts val="0"/>
              </a:spcBef>
              <a:spcAft>
                <a:spcPts val="0"/>
              </a:spcAft>
              <a:buSzPts val="1300"/>
              <a:buAutoNum type="arabicPeriod"/>
            </a:pPr>
            <a:r>
              <a:rPr lang="en" sz="1300"/>
              <a:t>Perluasan bantuan pendidikan untuk keluarga miskin, terutama di jenjang SD dan SMP.</a:t>
            </a:r>
            <a:endParaRPr sz="1300"/>
          </a:p>
          <a:p>
            <a:pPr indent="-311150" lvl="0" marL="457200" rtl="0" algn="just">
              <a:spcBef>
                <a:spcPts val="0"/>
              </a:spcBef>
              <a:spcAft>
                <a:spcPts val="0"/>
              </a:spcAft>
              <a:buSzPts val="1300"/>
              <a:buAutoNum type="arabicPeriod"/>
            </a:pPr>
            <a:r>
              <a:rPr lang="en" sz="1300"/>
              <a:t>Peningkatan akses pendidikan di daerah tertinggal melalui pembangunan sekolah dan transportasi.</a:t>
            </a:r>
            <a:endParaRPr sz="1300"/>
          </a:p>
          <a:p>
            <a:pPr indent="-311150" lvl="0" marL="457200" rtl="0" algn="just">
              <a:spcBef>
                <a:spcPts val="0"/>
              </a:spcBef>
              <a:spcAft>
                <a:spcPts val="0"/>
              </a:spcAft>
              <a:buSzPts val="1300"/>
              <a:buAutoNum type="arabicPeriod"/>
            </a:pPr>
            <a:r>
              <a:rPr lang="en" sz="1300"/>
              <a:t>Kampanye kesadaran pendidikan bagi orang tua dan masyarakat lokal.</a:t>
            </a:r>
            <a:endParaRPr sz="1300"/>
          </a:p>
          <a:p>
            <a:pPr indent="-311150" lvl="0" marL="457200" rtl="0" algn="just">
              <a:spcBef>
                <a:spcPts val="0"/>
              </a:spcBef>
              <a:spcAft>
                <a:spcPts val="0"/>
              </a:spcAft>
              <a:buSzPts val="1300"/>
              <a:buAutoNum type="arabicPeriod"/>
            </a:pPr>
            <a:r>
              <a:rPr lang="en" sz="1300"/>
              <a:t>Peningkatan kualitas sekolah dan kenyamanan belajar agar anak tidak enggan bersekolah.</a:t>
            </a:r>
            <a:endParaRPr sz="1300"/>
          </a:p>
          <a:p>
            <a:pPr indent="-311150" lvl="0" marL="457200" rtl="0" algn="just">
              <a:spcBef>
                <a:spcPts val="0"/>
              </a:spcBef>
              <a:spcAft>
                <a:spcPts val="0"/>
              </a:spcAft>
              <a:buSzPts val="1300"/>
              <a:buAutoNum type="arabicPeriod"/>
            </a:pPr>
            <a:r>
              <a:rPr lang="en" sz="1300"/>
              <a:t>Kolaborasi lintas sektor (pemerintah, sekolah, LSM, masyarakat) untuk deteksi dini dan pencegahan.</a:t>
            </a:r>
            <a:endParaRPr sz="1300"/>
          </a:p>
        </p:txBody>
      </p:sp>
      <p:sp>
        <p:nvSpPr>
          <p:cNvPr id="143" name="Google Shape;143;g3616128bc79_0_16"/>
          <p:cNvSpPr txBox="1"/>
          <p:nvPr>
            <p:ph type="title"/>
          </p:nvPr>
        </p:nvSpPr>
        <p:spPr>
          <a:xfrm>
            <a:off x="98375" y="1425175"/>
            <a:ext cx="3250800" cy="1482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400"/>
              <a:t>Langkah-Langkah Kecil untuk Masa Depan yang Lebih Besar</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61997e048f_0_9"/>
          <p:cNvSpPr txBox="1"/>
          <p:nvPr>
            <p:ph type="title"/>
          </p:nvPr>
        </p:nvSpPr>
        <p:spPr>
          <a:xfrm>
            <a:off x="705900" y="2218950"/>
            <a:ext cx="7732200" cy="705600"/>
          </a:xfrm>
          <a:prstGeom prst="rect">
            <a:avLst/>
          </a:prstGeom>
        </p:spPr>
        <p:txBody>
          <a:bodyPr anchorCtr="0" anchor="ctr" bIns="91425" lIns="91425" spcFirstLastPara="1" rIns="91425" wrap="square" tIns="91425">
            <a:noAutofit/>
          </a:bodyPr>
          <a:lstStyle/>
          <a:p>
            <a:pPr indent="0" lvl="0" marL="0" rtl="0" algn="just">
              <a:lnSpc>
                <a:spcPct val="100000"/>
              </a:lnSpc>
              <a:spcBef>
                <a:spcPts val="0"/>
              </a:spcBef>
              <a:spcAft>
                <a:spcPts val="0"/>
              </a:spcAft>
              <a:buNone/>
            </a:pPr>
            <a:r>
              <a:t/>
            </a:r>
            <a:endParaRPr sz="1800"/>
          </a:p>
          <a:p>
            <a:pPr indent="457200" lvl="0" marL="0" rtl="0" algn="just">
              <a:lnSpc>
                <a:spcPct val="100000"/>
              </a:lnSpc>
              <a:spcBef>
                <a:spcPts val="0"/>
              </a:spcBef>
              <a:spcAft>
                <a:spcPts val="0"/>
              </a:spcAft>
              <a:buNone/>
            </a:pPr>
            <a:r>
              <a:rPr b="0" lang="en" sz="1800"/>
              <a:t>Data tentang siswa putus sekolah menunjukkan lebih dari sekadar angka, di balik setiap grafik terdapat tantangan ekonomi, kesenjangan akses, dan persoalan sosial yang saling terkait. Jumlah siswa yang berhenti sekolah mencerminkan kondisi keluarga, keterbatasan fasilitas pendidikan, serta belum meratanya pemerataan pembangunan.</a:t>
            </a:r>
            <a:endParaRPr b="0" sz="1800"/>
          </a:p>
          <a:p>
            <a:pPr indent="457200" lvl="0" marL="0" rtl="0" algn="just">
              <a:lnSpc>
                <a:spcPct val="100000"/>
              </a:lnSpc>
              <a:spcBef>
                <a:spcPts val="1200"/>
              </a:spcBef>
              <a:spcAft>
                <a:spcPts val="0"/>
              </a:spcAft>
              <a:buNone/>
            </a:pPr>
            <a:r>
              <a:rPr b="0" lang="en" sz="1800"/>
              <a:t>Ini bukan hanya masalah pendidikan, tetapi persoalan masa depan generasi. Memahami data secara menyeluruh membantu kita merangkai potret yang utuh, agar kebijakan dan intervensi yang disusun benar-benar menjawab kebutuhan di lapangan.</a:t>
            </a:r>
            <a:r>
              <a:rPr b="0" lang="en" sz="1800"/>
              <a:t> </a:t>
            </a:r>
            <a:endParaRPr b="0" sz="1800"/>
          </a:p>
          <a:p>
            <a:pPr indent="0" lvl="0" marL="0" rtl="0" algn="just">
              <a:lnSpc>
                <a:spcPct val="100000"/>
              </a:lnSpc>
              <a:spcBef>
                <a:spcPts val="1200"/>
              </a:spcBef>
              <a:spcAft>
                <a:spcPts val="0"/>
              </a:spcAft>
              <a:buNone/>
            </a:pPr>
            <a:r>
              <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g3616128bc79_0_21"/>
          <p:cNvPicPr preferRelativeResize="0"/>
          <p:nvPr/>
        </p:nvPicPr>
        <p:blipFill>
          <a:blip r:embed="rId3">
            <a:alphaModFix/>
          </a:blip>
          <a:stretch>
            <a:fillRect/>
          </a:stretch>
        </p:blipFill>
        <p:spPr>
          <a:xfrm>
            <a:off x="656926" y="700874"/>
            <a:ext cx="7830125" cy="3906776"/>
          </a:xfrm>
          <a:prstGeom prst="rect">
            <a:avLst/>
          </a:prstGeom>
          <a:noFill/>
          <a:ln>
            <a:noFill/>
          </a:ln>
        </p:spPr>
      </p:pic>
      <p:sp>
        <p:nvSpPr>
          <p:cNvPr id="154" name="Google Shape;154;g3616128bc79_0_21"/>
          <p:cNvSpPr txBox="1"/>
          <p:nvPr/>
        </p:nvSpPr>
        <p:spPr>
          <a:xfrm>
            <a:off x="2802063" y="4607650"/>
            <a:ext cx="3946200" cy="2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000">
                <a:solidFill>
                  <a:schemeClr val="accent2"/>
                </a:solidFill>
                <a:latin typeface="Poppins"/>
                <a:ea typeface="Poppins"/>
                <a:cs typeface="Poppins"/>
                <a:sym typeface="Poppins"/>
              </a:rPr>
              <a:t>“Sumber data: Kemendikdasmen 2022/2023”</a:t>
            </a:r>
            <a:endParaRPr i="1" sz="1000">
              <a:solidFill>
                <a:schemeClr val="accent2"/>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6030500d69_0_23"/>
          <p:cNvSpPr/>
          <p:nvPr/>
        </p:nvSpPr>
        <p:spPr>
          <a:xfrm>
            <a:off x="2375100" y="1893600"/>
            <a:ext cx="4393800" cy="1356300"/>
          </a:xfrm>
          <a:prstGeom prst="rect">
            <a:avLst/>
          </a:prstGeom>
          <a:solidFill>
            <a:schemeClr val="lt2"/>
          </a:solidFill>
          <a:ln cap="flat" cmpd="sng" w="9525">
            <a:solidFill>
              <a:schemeClr val="dk2"/>
            </a:solidFill>
            <a:prstDash val="solid"/>
            <a:round/>
            <a:headEnd len="sm" w="sm" type="none"/>
            <a:tailEnd len="sm" w="sm" type="none"/>
          </a:ln>
          <a:effectLst>
            <a:outerShdw rotWithShape="0" algn="bl">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Poppins SemiBold"/>
                <a:ea typeface="Poppins SemiBold"/>
                <a:cs typeface="Poppins SemiBold"/>
                <a:sym typeface="Poppins SemiBold"/>
              </a:rPr>
              <a:t>Setiap Anak Berhak Bermimpi</a:t>
            </a:r>
            <a:endParaRPr sz="1600">
              <a:latin typeface="Poppins SemiBold"/>
              <a:ea typeface="Poppins SemiBold"/>
              <a:cs typeface="Poppins SemiBold"/>
              <a:sym typeface="Poppins SemiBold"/>
            </a:endParaRPr>
          </a:p>
          <a:p>
            <a:pPr indent="0" lvl="0" marL="0" rtl="0" algn="ctr">
              <a:spcBef>
                <a:spcPts val="0"/>
              </a:spcBef>
              <a:spcAft>
                <a:spcPts val="0"/>
              </a:spcAft>
              <a:buNone/>
            </a:pPr>
            <a:r>
              <a:rPr lang="en">
                <a:latin typeface="Poppins Medium"/>
                <a:ea typeface="Poppins Medium"/>
                <a:cs typeface="Poppins Medium"/>
                <a:sym typeface="Poppins Medium"/>
              </a:rPr>
              <a:t>“Pendidikan adalah awal dari perubahan, tanpa pendidikan tidak ada peradaban.”</a:t>
            </a:r>
            <a:endParaRPr>
              <a:latin typeface="Poppins Medium"/>
              <a:ea typeface="Poppins Medium"/>
              <a:cs typeface="Poppins Medium"/>
              <a:sym typeface="Poppins Medium"/>
            </a:endParaRPr>
          </a:p>
          <a:p>
            <a:pPr indent="0" lvl="0" marL="0" rtl="0" algn="ctr">
              <a:spcBef>
                <a:spcPts val="0"/>
              </a:spcBef>
              <a:spcAft>
                <a:spcPts val="0"/>
              </a:spcAft>
              <a:buNone/>
            </a:pPr>
            <a:r>
              <a:rPr lang="en">
                <a:latin typeface="Poppins Medium"/>
                <a:ea typeface="Poppins Medium"/>
                <a:cs typeface="Poppins Medium"/>
                <a:sym typeface="Poppins Medium"/>
              </a:rPr>
              <a:t>-Najwa Shihab</a:t>
            </a:r>
            <a:endParaRPr>
              <a:latin typeface="Poppins Medium"/>
              <a:ea typeface="Poppins Medium"/>
              <a:cs typeface="Poppins Medium"/>
              <a:sym typeface="Poppins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5"/>
          <p:cNvPicPr preferRelativeResize="0"/>
          <p:nvPr/>
        </p:nvPicPr>
        <p:blipFill>
          <a:blip r:embed="rId3">
            <a:alphaModFix/>
          </a:blip>
          <a:stretch>
            <a:fillRect/>
          </a:stretch>
        </p:blipFill>
        <p:spPr>
          <a:xfrm>
            <a:off x="564825" y="1942275"/>
            <a:ext cx="1352100" cy="1321500"/>
          </a:xfrm>
          <a:prstGeom prst="ellipse">
            <a:avLst/>
          </a:prstGeom>
          <a:noFill/>
          <a:ln>
            <a:noFill/>
          </a:ln>
        </p:spPr>
      </p:pic>
      <p:pic>
        <p:nvPicPr>
          <p:cNvPr id="165" name="Google Shape;165;p5"/>
          <p:cNvPicPr preferRelativeResize="0"/>
          <p:nvPr/>
        </p:nvPicPr>
        <p:blipFill>
          <a:blip r:embed="rId4">
            <a:alphaModFix/>
          </a:blip>
          <a:stretch>
            <a:fillRect/>
          </a:stretch>
        </p:blipFill>
        <p:spPr>
          <a:xfrm>
            <a:off x="1405543" y="2764231"/>
            <a:ext cx="511201" cy="499794"/>
          </a:xfrm>
          <a:prstGeom prst="rect">
            <a:avLst/>
          </a:prstGeom>
          <a:noFill/>
          <a:ln>
            <a:noFill/>
          </a:ln>
        </p:spPr>
      </p:pic>
      <p:sp>
        <p:nvSpPr>
          <p:cNvPr id="166" name="Google Shape;166;p5"/>
          <p:cNvSpPr txBox="1"/>
          <p:nvPr/>
        </p:nvSpPr>
        <p:spPr>
          <a:xfrm>
            <a:off x="2024800" y="2182675"/>
            <a:ext cx="3878700" cy="7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2"/>
                </a:solidFill>
                <a:latin typeface="Poppins SemiBold"/>
                <a:ea typeface="Poppins SemiBold"/>
                <a:cs typeface="Poppins SemiBold"/>
                <a:sym typeface="Poppins SemiBold"/>
              </a:rPr>
              <a:t>Mari terhubung di Linkedin</a:t>
            </a:r>
            <a:endParaRPr sz="1600">
              <a:solidFill>
                <a:schemeClr val="accent2"/>
              </a:solidFill>
              <a:latin typeface="Poppins SemiBold"/>
              <a:ea typeface="Poppins SemiBold"/>
              <a:cs typeface="Poppins SemiBold"/>
              <a:sym typeface="Poppins SemiBold"/>
            </a:endParaRPr>
          </a:p>
          <a:p>
            <a:pPr indent="0" lvl="0" marL="0" rtl="0" algn="l">
              <a:spcBef>
                <a:spcPts val="0"/>
              </a:spcBef>
              <a:spcAft>
                <a:spcPts val="0"/>
              </a:spcAft>
              <a:buNone/>
            </a:pPr>
            <a:r>
              <a:rPr lang="en" sz="1600" u="sng">
                <a:solidFill>
                  <a:schemeClr val="hlink"/>
                </a:solidFill>
                <a:latin typeface="Poppins SemiBold"/>
                <a:ea typeface="Poppins SemiBold"/>
                <a:cs typeface="Poppins SemiBold"/>
                <a:sym typeface="Poppins SemiBold"/>
                <a:hlinkClick r:id="rId5"/>
              </a:rPr>
              <a:t>Muhammad Farkhan</a:t>
            </a:r>
            <a:endParaRPr sz="1600">
              <a:solidFill>
                <a:schemeClr val="accent2"/>
              </a:solidFill>
              <a:latin typeface="Poppins SemiBold"/>
              <a:ea typeface="Poppins SemiBold"/>
              <a:cs typeface="Poppins SemiBold"/>
              <a:sym typeface="Poppins SemiBo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